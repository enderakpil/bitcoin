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Lst>
  <p:notesMasterIdLst>
    <p:notesMasterId r:id="rId76"/>
  </p:notesMasterIdLst>
  <p:sldIdLst>
    <p:sldId id="293" r:id="rId4"/>
    <p:sldId id="863" r:id="rId5"/>
    <p:sldId id="938" r:id="rId6"/>
    <p:sldId id="680" r:id="rId7"/>
    <p:sldId id="939" r:id="rId8"/>
    <p:sldId id="865" r:id="rId9"/>
    <p:sldId id="866" r:id="rId10"/>
    <p:sldId id="921" r:id="rId11"/>
    <p:sldId id="867" r:id="rId12"/>
    <p:sldId id="922" r:id="rId13"/>
    <p:sldId id="923" r:id="rId14"/>
    <p:sldId id="924" r:id="rId15"/>
    <p:sldId id="925" r:id="rId16"/>
    <p:sldId id="926" r:id="rId17"/>
    <p:sldId id="927" r:id="rId18"/>
    <p:sldId id="868" r:id="rId19"/>
    <p:sldId id="869" r:id="rId20"/>
    <p:sldId id="870" r:id="rId21"/>
    <p:sldId id="874" r:id="rId22"/>
    <p:sldId id="877" r:id="rId23"/>
    <p:sldId id="928" r:id="rId24"/>
    <p:sldId id="929" r:id="rId25"/>
    <p:sldId id="878" r:id="rId26"/>
    <p:sldId id="930" r:id="rId27"/>
    <p:sldId id="879" r:id="rId28"/>
    <p:sldId id="880" r:id="rId29"/>
    <p:sldId id="884" r:id="rId30"/>
    <p:sldId id="883" r:id="rId31"/>
    <p:sldId id="931" r:id="rId32"/>
    <p:sldId id="881" r:id="rId33"/>
    <p:sldId id="871" r:id="rId34"/>
    <p:sldId id="872" r:id="rId35"/>
    <p:sldId id="873" r:id="rId36"/>
    <p:sldId id="875" r:id="rId37"/>
    <p:sldId id="876" r:id="rId38"/>
    <p:sldId id="933" r:id="rId39"/>
    <p:sldId id="882" r:id="rId40"/>
    <p:sldId id="885" r:id="rId41"/>
    <p:sldId id="932" r:id="rId42"/>
    <p:sldId id="886" r:id="rId43"/>
    <p:sldId id="887" r:id="rId44"/>
    <p:sldId id="888" r:id="rId45"/>
    <p:sldId id="889" r:id="rId46"/>
    <p:sldId id="890" r:id="rId47"/>
    <p:sldId id="891" r:id="rId48"/>
    <p:sldId id="893" r:id="rId49"/>
    <p:sldId id="892" r:id="rId50"/>
    <p:sldId id="894" r:id="rId51"/>
    <p:sldId id="895" r:id="rId52"/>
    <p:sldId id="896" r:id="rId53"/>
    <p:sldId id="897" r:id="rId54"/>
    <p:sldId id="898" r:id="rId55"/>
    <p:sldId id="899" r:id="rId56"/>
    <p:sldId id="900" r:id="rId57"/>
    <p:sldId id="901" r:id="rId58"/>
    <p:sldId id="902" r:id="rId59"/>
    <p:sldId id="903" r:id="rId60"/>
    <p:sldId id="904" r:id="rId61"/>
    <p:sldId id="906" r:id="rId62"/>
    <p:sldId id="907" r:id="rId63"/>
    <p:sldId id="908" r:id="rId64"/>
    <p:sldId id="909" r:id="rId65"/>
    <p:sldId id="934" r:id="rId66"/>
    <p:sldId id="935" r:id="rId67"/>
    <p:sldId id="936" r:id="rId68"/>
    <p:sldId id="937" r:id="rId69"/>
    <p:sldId id="940" r:id="rId70"/>
    <p:sldId id="920" r:id="rId71"/>
    <p:sldId id="910" r:id="rId72"/>
    <p:sldId id="911" r:id="rId73"/>
    <p:sldId id="912" r:id="rId74"/>
    <p:sldId id="913" r:id="rId7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Arial" charset="0"/>
      </a:defRPr>
    </a:lvl1pPr>
    <a:lvl2pPr marL="457200" algn="l" rtl="0" fontAlgn="base">
      <a:spcBef>
        <a:spcPct val="0"/>
      </a:spcBef>
      <a:spcAft>
        <a:spcPct val="0"/>
      </a:spcAft>
      <a:defRPr kern="1200">
        <a:solidFill>
          <a:schemeClr val="tx1"/>
        </a:solidFill>
        <a:latin typeface="Arial" charset="0"/>
        <a:ea typeface="ＭＳ Ｐゴシック" charset="0"/>
        <a:cs typeface="Arial" charset="0"/>
      </a:defRPr>
    </a:lvl2pPr>
    <a:lvl3pPr marL="914400" algn="l" rtl="0" fontAlgn="base">
      <a:spcBef>
        <a:spcPct val="0"/>
      </a:spcBef>
      <a:spcAft>
        <a:spcPct val="0"/>
      </a:spcAft>
      <a:defRPr kern="1200">
        <a:solidFill>
          <a:schemeClr val="tx1"/>
        </a:solidFill>
        <a:latin typeface="Arial" charset="0"/>
        <a:ea typeface="ＭＳ Ｐゴシック" charset="0"/>
        <a:cs typeface="Arial" charset="0"/>
      </a:defRPr>
    </a:lvl3pPr>
    <a:lvl4pPr marL="1371600" algn="l" rtl="0" fontAlgn="base">
      <a:spcBef>
        <a:spcPct val="0"/>
      </a:spcBef>
      <a:spcAft>
        <a:spcPct val="0"/>
      </a:spcAft>
      <a:defRPr kern="1200">
        <a:solidFill>
          <a:schemeClr val="tx1"/>
        </a:solidFill>
        <a:latin typeface="Arial" charset="0"/>
        <a:ea typeface="ＭＳ Ｐゴシック" charset="0"/>
        <a:cs typeface="Arial" charset="0"/>
      </a:defRPr>
    </a:lvl4pPr>
    <a:lvl5pPr marL="1828800" algn="l"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B51C"/>
    <a:srgbClr val="FBFBFB"/>
    <a:srgbClr val="8BC53F"/>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60" autoAdjust="0"/>
    <p:restoredTop sz="79900" autoAdjust="0"/>
  </p:normalViewPr>
  <p:slideViewPr>
    <p:cSldViewPr>
      <p:cViewPr>
        <p:scale>
          <a:sx n="76" d="100"/>
          <a:sy n="76" d="100"/>
        </p:scale>
        <p:origin x="-1932" y="150"/>
      </p:cViewPr>
      <p:guideLst>
        <p:guide orient="horz" pos="2160"/>
        <p:guide pos="2880"/>
      </p:guideLst>
    </p:cSldViewPr>
  </p:slideViewPr>
  <p:notesTextViewPr>
    <p:cViewPr>
      <p:scale>
        <a:sx n="100" d="100"/>
        <a:sy n="100" d="100"/>
      </p:scale>
      <p:origin x="0" y="0"/>
    </p:cViewPr>
  </p:notesTextViewPr>
  <p:sorterViewPr>
    <p:cViewPr>
      <p:scale>
        <a:sx n="132" d="100"/>
        <a:sy n="132" d="100"/>
      </p:scale>
      <p:origin x="0" y="2629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theme" Target="theme/theme1.xml"/><Relationship Id="rId5" Type="http://schemas.openxmlformats.org/officeDocument/2006/relationships/slide" Target="slides/slide2.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tableStyles" Target="tableStyles.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GB"/>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charset="0"/>
              </a:defRPr>
            </a:lvl1pPr>
          </a:lstStyle>
          <a:p>
            <a:fld id="{144B4C29-38EF-8545-80F2-007A15D0202C}" type="datetimeFigureOut">
              <a:rPr lang="en-US"/>
              <a:pPr/>
              <a:t>9/4/2017</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GB"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GB"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charset="0"/>
              </a:defRPr>
            </a:lvl1pPr>
          </a:lstStyle>
          <a:p>
            <a:fld id="{469B071D-D4BB-DF47-8295-64B457E1E146}" type="slidenum">
              <a:rPr lang="en-GB"/>
              <a:pPr/>
              <a:t>‹#›</a:t>
            </a:fld>
            <a:endParaRPr lang="en-GB"/>
          </a:p>
        </p:txBody>
      </p:sp>
    </p:spTree>
    <p:extLst>
      <p:ext uri="{BB962C8B-B14F-4D97-AF65-F5344CB8AC3E}">
        <p14:creationId xmlns:p14="http://schemas.microsoft.com/office/powerpoint/2010/main" val="73762975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4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tr-TR">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41D41D63-A87C-484A-BB25-32E7235D4DAA}" type="slidenum">
              <a:rPr lang="en-GB">
                <a:latin typeface="Calibri" charset="0"/>
              </a:rPr>
              <a:pPr eaLnBrk="1" hangingPunct="1"/>
              <a:t>1</a:t>
            </a:fld>
            <a:endParaRPr lang="en-GB">
              <a:latin typeface="Calibri"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2</a:t>
            </a:fld>
            <a:endParaRPr lang="en-GB">
              <a:latin typeface="Calibri"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3</a:t>
            </a:fld>
            <a:endParaRPr lang="en-GB">
              <a:latin typeface="Calibri"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4</a:t>
            </a:fld>
            <a:endParaRPr lang="en-GB">
              <a:latin typeface="Calibri"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5</a:t>
            </a:fld>
            <a:endParaRPr lang="en-GB">
              <a:latin typeface="Calibri"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0" indent="0" eaLnBrk="1" hangingPunct="1">
              <a:spcBef>
                <a:spcPct val="0"/>
              </a:spcBef>
              <a:buFont typeface="+mj-lt"/>
              <a:buNone/>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6</a:t>
            </a:fld>
            <a:endParaRPr lang="en-GB">
              <a:latin typeface="Calibri"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7</a:t>
            </a:fld>
            <a:endParaRPr lang="en-GB">
              <a:latin typeface="Calibri"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8</a:t>
            </a:fld>
            <a:endParaRPr lang="en-GB">
              <a:latin typeface="Calibri"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9</a:t>
            </a:fld>
            <a:endParaRPr lang="en-GB">
              <a:latin typeface="Calibri"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10</a:t>
            </a:fld>
            <a:endParaRPr lang="en-GB">
              <a:latin typeface="Calibri"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11</a:t>
            </a:fld>
            <a:endParaRPr lang="en-GB">
              <a:latin typeface="Calibri"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12</a:t>
            </a:fld>
            <a:endParaRPr lang="en-GB">
              <a:latin typeface="Calibri"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13</a:t>
            </a:fld>
            <a:endParaRPr lang="en-GB">
              <a:latin typeface="Calibri"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14</a:t>
            </a:fld>
            <a:endParaRPr lang="en-GB">
              <a:latin typeface="Calibri"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15</a:t>
            </a:fld>
            <a:endParaRPr lang="en-GB">
              <a:latin typeface="Calibri"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16</a:t>
            </a:fld>
            <a:endParaRPr lang="en-GB">
              <a:latin typeface="Calibri"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17</a:t>
            </a:fld>
            <a:endParaRPr lang="en-GB">
              <a:latin typeface="Calibri"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18</a:t>
            </a:fld>
            <a:endParaRPr lang="en-GB">
              <a:latin typeface="Calibri"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19</a:t>
            </a:fld>
            <a:endParaRPr lang="en-GB">
              <a:latin typeface="Calibri"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20</a:t>
            </a:fld>
            <a:endParaRPr lang="en-GB">
              <a:latin typeface="Calibri"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21</a:t>
            </a:fld>
            <a:endParaRPr lang="en-GB">
              <a:latin typeface="Calibri"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22</a:t>
            </a:fld>
            <a:endParaRPr lang="en-GB">
              <a:latin typeface="Calibri"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23</a:t>
            </a:fld>
            <a:endParaRPr lang="en-GB">
              <a:latin typeface="Calibri"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24</a:t>
            </a:fld>
            <a:endParaRPr lang="en-GB">
              <a:latin typeface="Calibri"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25</a:t>
            </a:fld>
            <a:endParaRPr lang="en-GB">
              <a:latin typeface="Calibri"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26</a:t>
            </a:fld>
            <a:endParaRPr lang="en-GB">
              <a:latin typeface="Calibri"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27</a:t>
            </a:fld>
            <a:endParaRPr lang="en-GB">
              <a:latin typeface="Calibri"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28</a:t>
            </a:fld>
            <a:endParaRPr lang="en-GB">
              <a:latin typeface="Calibri"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29</a:t>
            </a:fld>
            <a:endParaRPr lang="en-GB">
              <a:latin typeface="Calibri"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0" indent="0" eaLnBrk="1" hangingPunct="1">
              <a:spcBef>
                <a:spcPct val="0"/>
              </a:spcBef>
              <a:buFont typeface="+mj-lt"/>
              <a:buNone/>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30</a:t>
            </a:fld>
            <a:endParaRPr lang="en-GB">
              <a:latin typeface="Calibri"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31</a:t>
            </a:fld>
            <a:endParaRPr lang="en-GB">
              <a:latin typeface="Calibri"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32</a:t>
            </a:fld>
            <a:endParaRPr lang="en-GB">
              <a:latin typeface="Calibri"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33</a:t>
            </a:fld>
            <a:endParaRPr lang="en-GB">
              <a:latin typeface="Calibri"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34</a:t>
            </a:fld>
            <a:endParaRPr lang="en-GB">
              <a:latin typeface="Calibri"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35</a:t>
            </a:fld>
            <a:endParaRPr lang="en-GB">
              <a:latin typeface="Calibri"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36</a:t>
            </a:fld>
            <a:endParaRPr lang="en-GB">
              <a:latin typeface="Calibri"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37</a:t>
            </a:fld>
            <a:endParaRPr lang="en-GB">
              <a:latin typeface="Calibri"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38</a:t>
            </a:fld>
            <a:endParaRPr lang="en-GB">
              <a:latin typeface="Calibri"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39</a:t>
            </a:fld>
            <a:endParaRPr lang="en-GB">
              <a:latin typeface="Calibri"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40</a:t>
            </a:fld>
            <a:endParaRPr lang="en-GB">
              <a:latin typeface="Calibri"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41</a:t>
            </a:fld>
            <a:endParaRPr lang="en-GB">
              <a:latin typeface="Calibri"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42</a:t>
            </a:fld>
            <a:endParaRPr lang="en-GB">
              <a:latin typeface="Calibri"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43</a:t>
            </a:fld>
            <a:endParaRPr lang="en-GB">
              <a:latin typeface="Calibri"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44</a:t>
            </a:fld>
            <a:endParaRPr lang="en-GB">
              <a:latin typeface="Calibri"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45</a:t>
            </a:fld>
            <a:endParaRPr lang="en-GB">
              <a:latin typeface="Calibri"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0" indent="0" eaLnBrk="1" hangingPunct="1">
              <a:spcBef>
                <a:spcPct val="0"/>
              </a:spcBef>
              <a:buFont typeface="+mj-lt"/>
              <a:buNone/>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46</a:t>
            </a:fld>
            <a:endParaRPr lang="en-GB">
              <a:latin typeface="Calibri"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47</a:t>
            </a:fld>
            <a:endParaRPr lang="en-GB">
              <a:latin typeface="Calibri"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48</a:t>
            </a:fld>
            <a:endParaRPr lang="en-GB">
              <a:latin typeface="Calibri"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49</a:t>
            </a:fld>
            <a:endParaRPr lang="en-GB">
              <a:latin typeface="Calibri"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50</a:t>
            </a:fld>
            <a:endParaRPr lang="en-GB">
              <a:latin typeface="Calibri"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51</a:t>
            </a:fld>
            <a:endParaRPr lang="en-GB">
              <a:latin typeface="Calibri"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52</a:t>
            </a:fld>
            <a:endParaRPr lang="en-GB">
              <a:latin typeface="Calibri"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53</a:t>
            </a:fld>
            <a:endParaRPr lang="en-GB">
              <a:latin typeface="Calibri"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54</a:t>
            </a:fld>
            <a:endParaRPr lang="en-GB">
              <a:latin typeface="Calibri"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55</a:t>
            </a:fld>
            <a:endParaRPr lang="en-GB">
              <a:latin typeface="Calibri"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56</a:t>
            </a:fld>
            <a:endParaRPr lang="en-GB">
              <a:latin typeface="Calibri"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57</a:t>
            </a:fld>
            <a:endParaRPr lang="en-GB">
              <a:latin typeface="Calibri"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58</a:t>
            </a:fld>
            <a:endParaRPr lang="en-GB">
              <a:latin typeface="Calibri"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59</a:t>
            </a:fld>
            <a:endParaRPr lang="en-GB">
              <a:latin typeface="Calibri"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60</a:t>
            </a:fld>
            <a:endParaRPr lang="en-GB">
              <a:latin typeface="Calibri"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61</a:t>
            </a:fld>
            <a:endParaRPr lang="en-GB">
              <a:latin typeface="Calibri"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62</a:t>
            </a:fld>
            <a:endParaRPr lang="en-GB">
              <a:latin typeface="Calibri"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63</a:t>
            </a:fld>
            <a:endParaRPr lang="en-GB">
              <a:latin typeface="Calibri"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64</a:t>
            </a:fld>
            <a:endParaRPr lang="en-GB">
              <a:latin typeface="Calibri"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65</a:t>
            </a:fld>
            <a:endParaRPr lang="en-GB">
              <a:latin typeface="Calibri"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66</a:t>
            </a:fld>
            <a:endParaRPr lang="en-GB">
              <a:latin typeface="Calibri"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67</a:t>
            </a:fld>
            <a:endParaRPr lang="en-GB">
              <a:latin typeface="Calibri"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68</a:t>
            </a:fld>
            <a:endParaRPr lang="en-GB">
              <a:latin typeface="Calibri"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69</a:t>
            </a:fld>
            <a:endParaRPr lang="en-GB">
              <a:latin typeface="Calibri"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70</a:t>
            </a:fld>
            <a:endParaRPr lang="en-GB">
              <a:latin typeface="Calibri"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71</a:t>
            </a:fld>
            <a:endParaRPr lang="en-GB">
              <a:latin typeface="Calibri"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228600" indent="-228600" eaLnBrk="1" hangingPunct="1">
              <a:spcBef>
                <a:spcPct val="0"/>
              </a:spcBef>
              <a:buFont typeface="+mj-lt"/>
              <a:buAutoNum type="arabicPeriod"/>
            </a:pPr>
            <a:r>
              <a:rPr lang="tr-TR" dirty="0" smtClean="0">
                <a:latin typeface="Calibri" charset="0"/>
              </a:rPr>
              <a:t>Beklentilerinim makul</a:t>
            </a:r>
            <a:r>
              <a:rPr lang="tr-TR" baseline="0" dirty="0" smtClean="0">
                <a:latin typeface="Calibri" charset="0"/>
              </a:rPr>
              <a:t> </a:t>
            </a:r>
            <a:r>
              <a:rPr lang="tr-TR" baseline="0" dirty="0" err="1" smtClean="0">
                <a:latin typeface="Calibri" charset="0"/>
              </a:rPr>
              <a:t>duzeyde</a:t>
            </a:r>
            <a:r>
              <a:rPr lang="tr-TR" baseline="0" dirty="0" smtClean="0">
                <a:latin typeface="Calibri" charset="0"/>
              </a:rPr>
              <a:t> </a:t>
            </a:r>
            <a:r>
              <a:rPr lang="tr-TR" baseline="0" dirty="0" err="1" smtClean="0">
                <a:latin typeface="Calibri" charset="0"/>
              </a:rPr>
              <a:t>olmasi</a:t>
            </a:r>
            <a:r>
              <a:rPr lang="tr-TR" baseline="0" dirty="0" smtClean="0">
                <a:latin typeface="Calibri" charset="0"/>
              </a:rPr>
              <a:t> </a:t>
            </a:r>
            <a:r>
              <a:rPr lang="tr-TR" baseline="0" dirty="0" err="1" smtClean="0">
                <a:latin typeface="Calibri" charset="0"/>
              </a:rPr>
              <a:t>gerektigini</a:t>
            </a:r>
            <a:r>
              <a:rPr lang="tr-TR" baseline="0" dirty="0" smtClean="0">
                <a:latin typeface="Calibri" charset="0"/>
              </a:rPr>
              <a:t> anons et </a:t>
            </a:r>
          </a:p>
          <a:p>
            <a:pPr marL="228600" indent="-228600" eaLnBrk="1" hangingPunct="1">
              <a:spcBef>
                <a:spcPct val="0"/>
              </a:spcBef>
              <a:buFont typeface="+mj-lt"/>
              <a:buAutoNum type="arabicPeriod"/>
            </a:pPr>
            <a:r>
              <a:rPr lang="tr-TR" baseline="0" dirty="0" err="1" smtClean="0">
                <a:latin typeface="Calibri" charset="0"/>
              </a:rPr>
              <a:t>Egitime</a:t>
            </a:r>
            <a:r>
              <a:rPr lang="tr-TR" baseline="0" dirty="0" smtClean="0">
                <a:latin typeface="Calibri" charset="0"/>
              </a:rPr>
              <a:t> gelen </a:t>
            </a:r>
            <a:r>
              <a:rPr lang="tr-TR" baseline="0" dirty="0" err="1" smtClean="0">
                <a:latin typeface="Calibri" charset="0"/>
              </a:rPr>
              <a:t>ogrencileri</a:t>
            </a:r>
            <a:r>
              <a:rPr lang="tr-TR" baseline="0" dirty="0" smtClean="0">
                <a:latin typeface="Calibri" charset="0"/>
              </a:rPr>
              <a:t> 0 saymak </a:t>
            </a:r>
            <a:r>
              <a:rPr lang="tr-TR" baseline="0" dirty="0" err="1" smtClean="0">
                <a:latin typeface="Calibri" charset="0"/>
              </a:rPr>
              <a:t>durumundayiz</a:t>
            </a:r>
            <a:endParaRPr lang="tr-TR" baseline="0" dirty="0" smtClean="0">
              <a:latin typeface="Calibri" charset="0"/>
            </a:endParaRPr>
          </a:p>
          <a:p>
            <a:pPr marL="228600" indent="-228600" eaLnBrk="1" hangingPunct="1">
              <a:spcBef>
                <a:spcPct val="0"/>
              </a:spcBef>
              <a:buFont typeface="+mj-lt"/>
              <a:buAutoNum type="arabicPeriod"/>
            </a:pPr>
            <a:r>
              <a:rPr lang="tr-TR" baseline="0" dirty="0" smtClean="0">
                <a:latin typeface="Calibri" charset="0"/>
              </a:rPr>
              <a:t>1-2 </a:t>
            </a:r>
            <a:r>
              <a:rPr lang="tr-TR" baseline="0" dirty="0" err="1" smtClean="0">
                <a:latin typeface="Calibri" charset="0"/>
              </a:rPr>
              <a:t>kisi</a:t>
            </a:r>
            <a:r>
              <a:rPr lang="tr-TR" baseline="0" dirty="0" smtClean="0">
                <a:latin typeface="Calibri" charset="0"/>
              </a:rPr>
              <a:t> </a:t>
            </a:r>
            <a:r>
              <a:rPr lang="tr-TR" baseline="0" dirty="0" err="1" smtClean="0">
                <a:latin typeface="Calibri" charset="0"/>
              </a:rPr>
              <a:t>yuzunden</a:t>
            </a:r>
            <a:r>
              <a:rPr lang="tr-TR" baseline="0" dirty="0" smtClean="0">
                <a:latin typeface="Calibri" charset="0"/>
              </a:rPr>
              <a:t> </a:t>
            </a:r>
            <a:r>
              <a:rPr lang="tr-TR" baseline="0" dirty="0" err="1" smtClean="0">
                <a:latin typeface="Calibri" charset="0"/>
              </a:rPr>
              <a:t>citayi</a:t>
            </a:r>
            <a:r>
              <a:rPr lang="tr-TR" baseline="0" dirty="0" smtClean="0">
                <a:latin typeface="Calibri" charset="0"/>
              </a:rPr>
              <a:t> </a:t>
            </a:r>
            <a:r>
              <a:rPr lang="tr-TR" baseline="0" dirty="0" err="1" smtClean="0">
                <a:latin typeface="Calibri" charset="0"/>
              </a:rPr>
              <a:t>yukari</a:t>
            </a:r>
            <a:r>
              <a:rPr lang="tr-TR" baseline="0" dirty="0" smtClean="0">
                <a:latin typeface="Calibri" charset="0"/>
              </a:rPr>
              <a:t> </a:t>
            </a:r>
            <a:r>
              <a:rPr lang="tr-TR" baseline="0" dirty="0" err="1" smtClean="0">
                <a:latin typeface="Calibri" charset="0"/>
              </a:rPr>
              <a:t>cikartma</a:t>
            </a:r>
            <a:r>
              <a:rPr lang="tr-TR" baseline="0" dirty="0" smtClean="0">
                <a:latin typeface="Calibri" charset="0"/>
              </a:rPr>
              <a:t> </a:t>
            </a:r>
            <a:r>
              <a:rPr lang="tr-TR" baseline="0" dirty="0" err="1" smtClean="0">
                <a:latin typeface="Calibri" charset="0"/>
              </a:rPr>
              <a:t>hatasini</a:t>
            </a:r>
            <a:r>
              <a:rPr lang="tr-TR" baseline="0" dirty="0" smtClean="0">
                <a:latin typeface="Calibri" charset="0"/>
              </a:rPr>
              <a:t> </a:t>
            </a:r>
            <a:r>
              <a:rPr lang="tr-TR" baseline="0" dirty="0" err="1" smtClean="0">
                <a:latin typeface="Calibri" charset="0"/>
              </a:rPr>
              <a:t>yaptik</a:t>
            </a:r>
            <a:r>
              <a:rPr lang="tr-TR" baseline="0" dirty="0" smtClean="0">
                <a:latin typeface="Calibri" charset="0"/>
              </a:rPr>
              <a:t> !</a:t>
            </a:r>
          </a:p>
          <a:p>
            <a:pPr marL="228600" indent="-228600" eaLnBrk="1" hangingPunct="1">
              <a:spcBef>
                <a:spcPct val="0"/>
              </a:spcBef>
              <a:buFont typeface="+mj-lt"/>
              <a:buAutoNum type="arabicPeriod"/>
            </a:pPr>
            <a:r>
              <a:rPr lang="tr-TR" dirty="0" err="1" smtClean="0">
                <a:latin typeface="Calibri" charset="0"/>
              </a:rPr>
              <a:t>Ingilizce</a:t>
            </a:r>
            <a:r>
              <a:rPr lang="tr-TR" dirty="0" smtClean="0">
                <a:latin typeface="Calibri" charset="0"/>
              </a:rPr>
              <a:t> terminoloji &amp; </a:t>
            </a:r>
            <a:r>
              <a:rPr lang="tr-TR" dirty="0" err="1" smtClean="0">
                <a:latin typeface="Calibri" charset="0"/>
              </a:rPr>
              <a:t>Turkce</a:t>
            </a:r>
            <a:r>
              <a:rPr lang="tr-TR" dirty="0" smtClean="0">
                <a:latin typeface="Calibri" charset="0"/>
              </a:rPr>
              <a:t> karakter sorun</a:t>
            </a:r>
          </a:p>
          <a:p>
            <a:pPr marL="228600" indent="-228600" eaLnBrk="1" hangingPunct="1">
              <a:spcBef>
                <a:spcPct val="0"/>
              </a:spcBef>
              <a:buFont typeface="+mj-lt"/>
              <a:buAutoNum type="arabicPeriod"/>
            </a:pPr>
            <a:r>
              <a:rPr lang="tr-TR" dirty="0" smtClean="0">
                <a:latin typeface="Calibri" charset="0"/>
              </a:rPr>
              <a:t>Beklentilerinim makul </a:t>
            </a:r>
            <a:r>
              <a:rPr lang="tr-TR" dirty="0" err="1" smtClean="0">
                <a:latin typeface="Calibri" charset="0"/>
              </a:rPr>
              <a:t>duzeyde</a:t>
            </a:r>
            <a:r>
              <a:rPr lang="tr-TR" dirty="0" smtClean="0">
                <a:latin typeface="Calibri" charset="0"/>
              </a:rPr>
              <a:t> </a:t>
            </a:r>
            <a:r>
              <a:rPr lang="tr-TR" dirty="0" err="1" smtClean="0">
                <a:latin typeface="Calibri" charset="0"/>
              </a:rPr>
              <a:t>olmasi</a:t>
            </a:r>
            <a:r>
              <a:rPr lang="tr-TR" dirty="0" smtClean="0">
                <a:latin typeface="Calibri" charset="0"/>
              </a:rPr>
              <a:t> </a:t>
            </a:r>
            <a:r>
              <a:rPr lang="tr-TR" dirty="0" err="1" smtClean="0">
                <a:latin typeface="Calibri" charset="0"/>
              </a:rPr>
              <a:t>gerektigini</a:t>
            </a:r>
            <a:r>
              <a:rPr lang="tr-TR" dirty="0" smtClean="0">
                <a:latin typeface="Calibri" charset="0"/>
              </a:rPr>
              <a:t> anons et </a:t>
            </a:r>
          </a:p>
          <a:p>
            <a:pPr marL="228600" indent="-228600" eaLnBrk="1" hangingPunct="1">
              <a:spcBef>
                <a:spcPct val="0"/>
              </a:spcBef>
              <a:buFont typeface="+mj-lt"/>
              <a:buAutoNum type="arabicPeriod"/>
            </a:pPr>
            <a:r>
              <a:rPr lang="tr-TR" dirty="0" smtClean="0">
                <a:latin typeface="Calibri" charset="0"/>
              </a:rPr>
              <a:t>Egitim notlari</a:t>
            </a:r>
          </a:p>
          <a:p>
            <a:pPr marL="228600" indent="-228600" eaLnBrk="1" hangingPunct="1">
              <a:spcBef>
                <a:spcPct val="0"/>
              </a:spcBef>
              <a:buFont typeface="+mj-lt"/>
              <a:buAutoNum type="arabicPeriod"/>
            </a:pPr>
            <a:endParaRPr lang="tr-TR" dirty="0">
              <a:latin typeface="Calibri" charset="0"/>
            </a:endParaRPr>
          </a:p>
        </p:txBody>
      </p:sp>
      <p:sp>
        <p:nvSpPr>
          <p:cNvPr id="6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1C59649D-5A30-A64F-843E-FCE5F8664809}" type="slidenum">
              <a:rPr lang="en-GB">
                <a:latin typeface="Calibri" charset="0"/>
              </a:rPr>
              <a:pPr eaLnBrk="1" hangingPunct="1"/>
              <a:t>72</a:t>
            </a:fld>
            <a:endParaRPr lang="en-GB">
              <a:latin typeface="Calibri"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fld id="{B4BFA971-B7DB-0C4A-A165-3E8DBD91442D}" type="datetime5">
              <a:rPr lang="en-US"/>
              <a:pPr/>
              <a:t>4-Sep-17</a:t>
            </a:fld>
            <a:endParaRPr lang="en-GB"/>
          </a:p>
        </p:txBody>
      </p:sp>
      <p:sp>
        <p:nvSpPr>
          <p:cNvPr id="5" name="Footer Placeholder 4"/>
          <p:cNvSpPr>
            <a:spLocks noGrp="1"/>
          </p:cNvSpPr>
          <p:nvPr>
            <p:ph type="ftr" sz="quarter" idx="11"/>
          </p:nvPr>
        </p:nvSpPr>
        <p:spPr/>
        <p:txBody>
          <a:bodyPr/>
          <a:lstStyle>
            <a:lvl1pPr>
              <a:defRPr/>
            </a:lvl1pPr>
          </a:lstStyle>
          <a:p>
            <a:pPr>
              <a:defRPr/>
            </a:pPr>
            <a:r>
              <a:rPr lang="en-GB"/>
              <a:t>Vodafone  Turkey</a:t>
            </a:r>
          </a:p>
        </p:txBody>
      </p:sp>
      <p:sp>
        <p:nvSpPr>
          <p:cNvPr id="6" name="Slide Number Placeholder 5"/>
          <p:cNvSpPr>
            <a:spLocks noGrp="1"/>
          </p:cNvSpPr>
          <p:nvPr>
            <p:ph type="sldNum" sz="quarter" idx="12"/>
          </p:nvPr>
        </p:nvSpPr>
        <p:spPr/>
        <p:txBody>
          <a:bodyPr/>
          <a:lstStyle>
            <a:lvl1pPr>
              <a:defRPr/>
            </a:lvl1pPr>
          </a:lstStyle>
          <a:p>
            <a:fld id="{A6EA80F6-7032-B24B-A32D-F4C49C80D1C1}" type="slidenum">
              <a:rPr lang="en-GB"/>
              <a:pPr/>
              <a:t>‹#›</a:t>
            </a:fld>
            <a:endParaRPr lang="en-GB"/>
          </a:p>
        </p:txBody>
      </p:sp>
    </p:spTree>
    <p:extLst>
      <p:ext uri="{BB962C8B-B14F-4D97-AF65-F5344CB8AC3E}">
        <p14:creationId xmlns:p14="http://schemas.microsoft.com/office/powerpoint/2010/main" val="1253228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fld id="{2978856C-DED4-9C48-B2E6-1E191A5ED1C3}" type="datetime5">
              <a:rPr lang="en-US"/>
              <a:pPr/>
              <a:t>4-Sep-17</a:t>
            </a:fld>
            <a:endParaRPr lang="en-GB"/>
          </a:p>
        </p:txBody>
      </p:sp>
      <p:sp>
        <p:nvSpPr>
          <p:cNvPr id="5" name="Footer Placeholder 4"/>
          <p:cNvSpPr>
            <a:spLocks noGrp="1"/>
          </p:cNvSpPr>
          <p:nvPr>
            <p:ph type="ftr" sz="quarter" idx="11"/>
          </p:nvPr>
        </p:nvSpPr>
        <p:spPr/>
        <p:txBody>
          <a:bodyPr/>
          <a:lstStyle>
            <a:lvl1pPr>
              <a:defRPr/>
            </a:lvl1pPr>
          </a:lstStyle>
          <a:p>
            <a:pPr>
              <a:defRPr/>
            </a:pPr>
            <a:r>
              <a:rPr lang="en-GB"/>
              <a:t>Vodafone  Turkey</a:t>
            </a:r>
          </a:p>
        </p:txBody>
      </p:sp>
      <p:sp>
        <p:nvSpPr>
          <p:cNvPr id="6" name="Slide Number Placeholder 5"/>
          <p:cNvSpPr>
            <a:spLocks noGrp="1"/>
          </p:cNvSpPr>
          <p:nvPr>
            <p:ph type="sldNum" sz="quarter" idx="12"/>
          </p:nvPr>
        </p:nvSpPr>
        <p:spPr/>
        <p:txBody>
          <a:bodyPr/>
          <a:lstStyle>
            <a:lvl1pPr>
              <a:defRPr/>
            </a:lvl1pPr>
          </a:lstStyle>
          <a:p>
            <a:fld id="{67E0DE88-0B2D-E847-9C92-3DCD4B8AD58C}" type="slidenum">
              <a:rPr lang="en-GB"/>
              <a:pPr/>
              <a:t>‹#›</a:t>
            </a:fld>
            <a:endParaRPr lang="en-GB"/>
          </a:p>
        </p:txBody>
      </p:sp>
    </p:spTree>
    <p:extLst>
      <p:ext uri="{BB962C8B-B14F-4D97-AF65-F5344CB8AC3E}">
        <p14:creationId xmlns:p14="http://schemas.microsoft.com/office/powerpoint/2010/main" val="654479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3A48841F-86DC-5E4F-829A-8FFF886825AE}" type="datetime5">
              <a:rPr lang="en-US"/>
              <a:pPr/>
              <a:t>4-Sep-17</a:t>
            </a:fld>
            <a:endParaRPr lang="en-GB"/>
          </a:p>
        </p:txBody>
      </p:sp>
      <p:sp>
        <p:nvSpPr>
          <p:cNvPr id="5" name="Footer Placeholder 4"/>
          <p:cNvSpPr>
            <a:spLocks noGrp="1"/>
          </p:cNvSpPr>
          <p:nvPr>
            <p:ph type="ftr" sz="quarter" idx="11"/>
          </p:nvPr>
        </p:nvSpPr>
        <p:spPr/>
        <p:txBody>
          <a:bodyPr/>
          <a:lstStyle>
            <a:lvl1pPr>
              <a:defRPr/>
            </a:lvl1pPr>
          </a:lstStyle>
          <a:p>
            <a:pPr>
              <a:defRPr/>
            </a:pPr>
            <a:r>
              <a:rPr lang="en-GB"/>
              <a:t>Vodafone  Turkey</a:t>
            </a:r>
          </a:p>
        </p:txBody>
      </p:sp>
      <p:sp>
        <p:nvSpPr>
          <p:cNvPr id="6" name="Slide Number Placeholder 5"/>
          <p:cNvSpPr>
            <a:spLocks noGrp="1"/>
          </p:cNvSpPr>
          <p:nvPr>
            <p:ph type="sldNum" sz="quarter" idx="12"/>
          </p:nvPr>
        </p:nvSpPr>
        <p:spPr/>
        <p:txBody>
          <a:bodyPr/>
          <a:lstStyle>
            <a:lvl1pPr>
              <a:defRPr/>
            </a:lvl1pPr>
          </a:lstStyle>
          <a:p>
            <a:fld id="{35CBA687-2993-964F-9063-4E3076A8EFA9}" type="slidenum">
              <a:rPr lang="en-GB"/>
              <a:pPr/>
              <a:t>‹#›</a:t>
            </a:fld>
            <a:endParaRPr lang="en-GB"/>
          </a:p>
        </p:txBody>
      </p:sp>
    </p:spTree>
    <p:extLst>
      <p:ext uri="{BB962C8B-B14F-4D97-AF65-F5344CB8AC3E}">
        <p14:creationId xmlns:p14="http://schemas.microsoft.com/office/powerpoint/2010/main" val="2795032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fld id="{DB9BF8D0-EB7B-FE4F-979A-18DF85E943D9}" type="datetime5">
              <a:rPr lang="en-US"/>
              <a:pPr/>
              <a:t>4-Sep-17</a:t>
            </a:fld>
            <a:endParaRPr lang="en-GB"/>
          </a:p>
        </p:txBody>
      </p:sp>
      <p:sp>
        <p:nvSpPr>
          <p:cNvPr id="6" name="Footer Placeholder 4"/>
          <p:cNvSpPr>
            <a:spLocks noGrp="1"/>
          </p:cNvSpPr>
          <p:nvPr>
            <p:ph type="ftr" sz="quarter" idx="11"/>
          </p:nvPr>
        </p:nvSpPr>
        <p:spPr/>
        <p:txBody>
          <a:bodyPr/>
          <a:lstStyle>
            <a:lvl1pPr>
              <a:defRPr/>
            </a:lvl1pPr>
          </a:lstStyle>
          <a:p>
            <a:pPr>
              <a:defRPr/>
            </a:pPr>
            <a:r>
              <a:rPr lang="en-GB"/>
              <a:t>Vodafone  Turkey</a:t>
            </a:r>
          </a:p>
        </p:txBody>
      </p:sp>
      <p:sp>
        <p:nvSpPr>
          <p:cNvPr id="7" name="Slide Number Placeholder 5"/>
          <p:cNvSpPr>
            <a:spLocks noGrp="1"/>
          </p:cNvSpPr>
          <p:nvPr>
            <p:ph type="sldNum" sz="quarter" idx="12"/>
          </p:nvPr>
        </p:nvSpPr>
        <p:spPr/>
        <p:txBody>
          <a:bodyPr/>
          <a:lstStyle>
            <a:lvl1pPr>
              <a:defRPr/>
            </a:lvl1pPr>
          </a:lstStyle>
          <a:p>
            <a:fld id="{5286C741-A2F8-8F4F-B874-D5165B7AD551}" type="slidenum">
              <a:rPr lang="en-GB"/>
              <a:pPr/>
              <a:t>‹#›</a:t>
            </a:fld>
            <a:endParaRPr lang="en-GB"/>
          </a:p>
        </p:txBody>
      </p:sp>
    </p:spTree>
    <p:extLst>
      <p:ext uri="{BB962C8B-B14F-4D97-AF65-F5344CB8AC3E}">
        <p14:creationId xmlns:p14="http://schemas.microsoft.com/office/powerpoint/2010/main" val="1507976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fld id="{F951DFE2-BA64-E342-BDD9-A75B2E95FA31}" type="datetime5">
              <a:rPr lang="en-US"/>
              <a:pPr/>
              <a:t>4-Sep-17</a:t>
            </a:fld>
            <a:endParaRPr lang="en-GB"/>
          </a:p>
        </p:txBody>
      </p:sp>
      <p:sp>
        <p:nvSpPr>
          <p:cNvPr id="8" name="Footer Placeholder 4"/>
          <p:cNvSpPr>
            <a:spLocks noGrp="1"/>
          </p:cNvSpPr>
          <p:nvPr>
            <p:ph type="ftr" sz="quarter" idx="11"/>
          </p:nvPr>
        </p:nvSpPr>
        <p:spPr/>
        <p:txBody>
          <a:bodyPr/>
          <a:lstStyle>
            <a:lvl1pPr>
              <a:defRPr/>
            </a:lvl1pPr>
          </a:lstStyle>
          <a:p>
            <a:pPr>
              <a:defRPr/>
            </a:pPr>
            <a:r>
              <a:rPr lang="en-GB"/>
              <a:t>Vodafone  Turkey</a:t>
            </a:r>
          </a:p>
        </p:txBody>
      </p:sp>
      <p:sp>
        <p:nvSpPr>
          <p:cNvPr id="9" name="Slide Number Placeholder 5"/>
          <p:cNvSpPr>
            <a:spLocks noGrp="1"/>
          </p:cNvSpPr>
          <p:nvPr>
            <p:ph type="sldNum" sz="quarter" idx="12"/>
          </p:nvPr>
        </p:nvSpPr>
        <p:spPr/>
        <p:txBody>
          <a:bodyPr/>
          <a:lstStyle>
            <a:lvl1pPr>
              <a:defRPr/>
            </a:lvl1pPr>
          </a:lstStyle>
          <a:p>
            <a:fld id="{AA7E6C15-7EF8-824F-B1CE-0290F29E17FC}" type="slidenum">
              <a:rPr lang="en-GB"/>
              <a:pPr/>
              <a:t>‹#›</a:t>
            </a:fld>
            <a:endParaRPr lang="en-GB"/>
          </a:p>
        </p:txBody>
      </p:sp>
    </p:spTree>
    <p:extLst>
      <p:ext uri="{BB962C8B-B14F-4D97-AF65-F5344CB8AC3E}">
        <p14:creationId xmlns:p14="http://schemas.microsoft.com/office/powerpoint/2010/main" val="1920597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fld id="{7D317802-E64F-2E43-87C0-1FB5ACE2C638}" type="datetime5">
              <a:rPr lang="en-US"/>
              <a:pPr/>
              <a:t>4-Sep-17</a:t>
            </a:fld>
            <a:endParaRPr lang="en-GB"/>
          </a:p>
        </p:txBody>
      </p:sp>
      <p:sp>
        <p:nvSpPr>
          <p:cNvPr id="4" name="Footer Placeholder 4"/>
          <p:cNvSpPr>
            <a:spLocks noGrp="1"/>
          </p:cNvSpPr>
          <p:nvPr>
            <p:ph type="ftr" sz="quarter" idx="11"/>
          </p:nvPr>
        </p:nvSpPr>
        <p:spPr/>
        <p:txBody>
          <a:bodyPr/>
          <a:lstStyle>
            <a:lvl1pPr>
              <a:defRPr/>
            </a:lvl1pPr>
          </a:lstStyle>
          <a:p>
            <a:pPr>
              <a:defRPr/>
            </a:pPr>
            <a:r>
              <a:rPr lang="en-GB"/>
              <a:t>Vodafone  Turkey</a:t>
            </a:r>
          </a:p>
        </p:txBody>
      </p:sp>
      <p:sp>
        <p:nvSpPr>
          <p:cNvPr id="5" name="Slide Number Placeholder 5"/>
          <p:cNvSpPr>
            <a:spLocks noGrp="1"/>
          </p:cNvSpPr>
          <p:nvPr>
            <p:ph type="sldNum" sz="quarter" idx="12"/>
          </p:nvPr>
        </p:nvSpPr>
        <p:spPr/>
        <p:txBody>
          <a:bodyPr/>
          <a:lstStyle>
            <a:lvl1pPr>
              <a:defRPr/>
            </a:lvl1pPr>
          </a:lstStyle>
          <a:p>
            <a:fld id="{526D071E-3857-854F-BA1D-1062CE9680EE}" type="slidenum">
              <a:rPr lang="en-GB"/>
              <a:pPr/>
              <a:t>‹#›</a:t>
            </a:fld>
            <a:endParaRPr lang="en-GB"/>
          </a:p>
        </p:txBody>
      </p:sp>
    </p:spTree>
    <p:extLst>
      <p:ext uri="{BB962C8B-B14F-4D97-AF65-F5344CB8AC3E}">
        <p14:creationId xmlns:p14="http://schemas.microsoft.com/office/powerpoint/2010/main" val="1511424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9BA631F4-DDB0-FF4D-9244-BF9819E95915}" type="datetime5">
              <a:rPr lang="en-US"/>
              <a:pPr/>
              <a:t>4-Sep-17</a:t>
            </a:fld>
            <a:endParaRPr lang="en-GB"/>
          </a:p>
        </p:txBody>
      </p:sp>
      <p:sp>
        <p:nvSpPr>
          <p:cNvPr id="3" name="Footer Placeholder 4"/>
          <p:cNvSpPr>
            <a:spLocks noGrp="1"/>
          </p:cNvSpPr>
          <p:nvPr>
            <p:ph type="ftr" sz="quarter" idx="11"/>
          </p:nvPr>
        </p:nvSpPr>
        <p:spPr/>
        <p:txBody>
          <a:bodyPr/>
          <a:lstStyle>
            <a:lvl1pPr>
              <a:defRPr/>
            </a:lvl1pPr>
          </a:lstStyle>
          <a:p>
            <a:pPr>
              <a:defRPr/>
            </a:pPr>
            <a:r>
              <a:rPr lang="en-GB"/>
              <a:t>Vodafone  Turkey</a:t>
            </a:r>
          </a:p>
        </p:txBody>
      </p:sp>
      <p:sp>
        <p:nvSpPr>
          <p:cNvPr id="4" name="Slide Number Placeholder 5"/>
          <p:cNvSpPr>
            <a:spLocks noGrp="1"/>
          </p:cNvSpPr>
          <p:nvPr>
            <p:ph type="sldNum" sz="quarter" idx="12"/>
          </p:nvPr>
        </p:nvSpPr>
        <p:spPr/>
        <p:txBody>
          <a:bodyPr/>
          <a:lstStyle>
            <a:lvl1pPr>
              <a:defRPr/>
            </a:lvl1pPr>
          </a:lstStyle>
          <a:p>
            <a:fld id="{C97638BD-5AB0-F34C-BD4C-E6590B77C9AE}" type="slidenum">
              <a:rPr lang="en-GB"/>
              <a:pPr/>
              <a:t>‹#›</a:t>
            </a:fld>
            <a:endParaRPr lang="en-GB"/>
          </a:p>
        </p:txBody>
      </p:sp>
    </p:spTree>
    <p:extLst>
      <p:ext uri="{BB962C8B-B14F-4D97-AF65-F5344CB8AC3E}">
        <p14:creationId xmlns:p14="http://schemas.microsoft.com/office/powerpoint/2010/main" val="2206216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fld id="{FE25118F-22B5-3649-9B5B-25DBE9A803CF}" type="datetime5">
              <a:rPr lang="en-US"/>
              <a:pPr/>
              <a:t>4-Sep-17</a:t>
            </a:fld>
            <a:endParaRPr lang="en-GB"/>
          </a:p>
        </p:txBody>
      </p:sp>
      <p:sp>
        <p:nvSpPr>
          <p:cNvPr id="6" name="Footer Placeholder 4"/>
          <p:cNvSpPr>
            <a:spLocks noGrp="1"/>
          </p:cNvSpPr>
          <p:nvPr>
            <p:ph type="ftr" sz="quarter" idx="11"/>
          </p:nvPr>
        </p:nvSpPr>
        <p:spPr/>
        <p:txBody>
          <a:bodyPr/>
          <a:lstStyle>
            <a:lvl1pPr>
              <a:defRPr/>
            </a:lvl1pPr>
          </a:lstStyle>
          <a:p>
            <a:pPr>
              <a:defRPr/>
            </a:pPr>
            <a:r>
              <a:rPr lang="en-GB"/>
              <a:t>Vodafone  Turkey</a:t>
            </a:r>
          </a:p>
        </p:txBody>
      </p:sp>
      <p:sp>
        <p:nvSpPr>
          <p:cNvPr id="7" name="Slide Number Placeholder 5"/>
          <p:cNvSpPr>
            <a:spLocks noGrp="1"/>
          </p:cNvSpPr>
          <p:nvPr>
            <p:ph type="sldNum" sz="quarter" idx="12"/>
          </p:nvPr>
        </p:nvSpPr>
        <p:spPr/>
        <p:txBody>
          <a:bodyPr/>
          <a:lstStyle>
            <a:lvl1pPr>
              <a:defRPr/>
            </a:lvl1pPr>
          </a:lstStyle>
          <a:p>
            <a:fld id="{2D55133F-C26C-5747-816F-96C6551BB4E9}" type="slidenum">
              <a:rPr lang="en-GB"/>
              <a:pPr/>
              <a:t>‹#›</a:t>
            </a:fld>
            <a:endParaRPr lang="en-GB"/>
          </a:p>
        </p:txBody>
      </p:sp>
    </p:spTree>
    <p:extLst>
      <p:ext uri="{BB962C8B-B14F-4D97-AF65-F5344CB8AC3E}">
        <p14:creationId xmlns:p14="http://schemas.microsoft.com/office/powerpoint/2010/main" val="130240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fld id="{3884286B-4FE0-4543-87F1-8A6E08869258}" type="datetime5">
              <a:rPr lang="en-US"/>
              <a:pPr/>
              <a:t>4-Sep-17</a:t>
            </a:fld>
            <a:endParaRPr lang="en-GB"/>
          </a:p>
        </p:txBody>
      </p:sp>
      <p:sp>
        <p:nvSpPr>
          <p:cNvPr id="6" name="Footer Placeholder 4"/>
          <p:cNvSpPr>
            <a:spLocks noGrp="1"/>
          </p:cNvSpPr>
          <p:nvPr>
            <p:ph type="ftr" sz="quarter" idx="11"/>
          </p:nvPr>
        </p:nvSpPr>
        <p:spPr/>
        <p:txBody>
          <a:bodyPr/>
          <a:lstStyle>
            <a:lvl1pPr>
              <a:defRPr/>
            </a:lvl1pPr>
          </a:lstStyle>
          <a:p>
            <a:pPr>
              <a:defRPr/>
            </a:pPr>
            <a:r>
              <a:rPr lang="en-GB"/>
              <a:t>Vodafone  Turkey</a:t>
            </a:r>
          </a:p>
        </p:txBody>
      </p:sp>
      <p:sp>
        <p:nvSpPr>
          <p:cNvPr id="7" name="Slide Number Placeholder 5"/>
          <p:cNvSpPr>
            <a:spLocks noGrp="1"/>
          </p:cNvSpPr>
          <p:nvPr>
            <p:ph type="sldNum" sz="quarter" idx="12"/>
          </p:nvPr>
        </p:nvSpPr>
        <p:spPr/>
        <p:txBody>
          <a:bodyPr/>
          <a:lstStyle>
            <a:lvl1pPr>
              <a:defRPr/>
            </a:lvl1pPr>
          </a:lstStyle>
          <a:p>
            <a:fld id="{1331BE3C-B59E-BA41-A6EE-DA41B390B6C1}" type="slidenum">
              <a:rPr lang="en-GB"/>
              <a:pPr/>
              <a:t>‹#›</a:t>
            </a:fld>
            <a:endParaRPr lang="en-GB"/>
          </a:p>
        </p:txBody>
      </p:sp>
    </p:spTree>
    <p:extLst>
      <p:ext uri="{BB962C8B-B14F-4D97-AF65-F5344CB8AC3E}">
        <p14:creationId xmlns:p14="http://schemas.microsoft.com/office/powerpoint/2010/main" val="2487811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fld id="{ADDEFF9E-72DF-634D-899F-6C0EF2008926}" type="datetime5">
              <a:rPr lang="en-US"/>
              <a:pPr/>
              <a:t>4-Sep-17</a:t>
            </a:fld>
            <a:endParaRPr lang="en-GB"/>
          </a:p>
        </p:txBody>
      </p:sp>
      <p:sp>
        <p:nvSpPr>
          <p:cNvPr id="5" name="Footer Placeholder 4"/>
          <p:cNvSpPr>
            <a:spLocks noGrp="1"/>
          </p:cNvSpPr>
          <p:nvPr>
            <p:ph type="ftr" sz="quarter" idx="11"/>
          </p:nvPr>
        </p:nvSpPr>
        <p:spPr/>
        <p:txBody>
          <a:bodyPr/>
          <a:lstStyle>
            <a:lvl1pPr>
              <a:defRPr/>
            </a:lvl1pPr>
          </a:lstStyle>
          <a:p>
            <a:pPr>
              <a:defRPr/>
            </a:pPr>
            <a:r>
              <a:rPr lang="en-GB"/>
              <a:t>Vodafone  Turkey</a:t>
            </a:r>
          </a:p>
        </p:txBody>
      </p:sp>
      <p:sp>
        <p:nvSpPr>
          <p:cNvPr id="6" name="Slide Number Placeholder 5"/>
          <p:cNvSpPr>
            <a:spLocks noGrp="1"/>
          </p:cNvSpPr>
          <p:nvPr>
            <p:ph type="sldNum" sz="quarter" idx="12"/>
          </p:nvPr>
        </p:nvSpPr>
        <p:spPr/>
        <p:txBody>
          <a:bodyPr/>
          <a:lstStyle>
            <a:lvl1pPr>
              <a:defRPr/>
            </a:lvl1pPr>
          </a:lstStyle>
          <a:p>
            <a:fld id="{CA201AAF-72CE-9740-9C35-270FED83B219}" type="slidenum">
              <a:rPr lang="en-GB"/>
              <a:pPr/>
              <a:t>‹#›</a:t>
            </a:fld>
            <a:endParaRPr lang="en-GB"/>
          </a:p>
        </p:txBody>
      </p:sp>
    </p:spTree>
    <p:extLst>
      <p:ext uri="{BB962C8B-B14F-4D97-AF65-F5344CB8AC3E}">
        <p14:creationId xmlns:p14="http://schemas.microsoft.com/office/powerpoint/2010/main" val="1502889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fld id="{D53104D6-D231-CB48-92C5-D222BBAEBB27}" type="datetime5">
              <a:rPr lang="en-US"/>
              <a:pPr/>
              <a:t>4-Sep-17</a:t>
            </a:fld>
            <a:endParaRPr lang="en-GB"/>
          </a:p>
        </p:txBody>
      </p:sp>
      <p:sp>
        <p:nvSpPr>
          <p:cNvPr id="5" name="Footer Placeholder 4"/>
          <p:cNvSpPr>
            <a:spLocks noGrp="1"/>
          </p:cNvSpPr>
          <p:nvPr>
            <p:ph type="ftr" sz="quarter" idx="11"/>
          </p:nvPr>
        </p:nvSpPr>
        <p:spPr/>
        <p:txBody>
          <a:bodyPr/>
          <a:lstStyle>
            <a:lvl1pPr>
              <a:defRPr/>
            </a:lvl1pPr>
          </a:lstStyle>
          <a:p>
            <a:pPr>
              <a:defRPr/>
            </a:pPr>
            <a:r>
              <a:rPr lang="en-GB"/>
              <a:t>Vodafone  Turkey</a:t>
            </a:r>
          </a:p>
        </p:txBody>
      </p:sp>
      <p:sp>
        <p:nvSpPr>
          <p:cNvPr id="6" name="Slide Number Placeholder 5"/>
          <p:cNvSpPr>
            <a:spLocks noGrp="1"/>
          </p:cNvSpPr>
          <p:nvPr>
            <p:ph type="sldNum" sz="quarter" idx="12"/>
          </p:nvPr>
        </p:nvSpPr>
        <p:spPr/>
        <p:txBody>
          <a:bodyPr/>
          <a:lstStyle>
            <a:lvl1pPr>
              <a:defRPr/>
            </a:lvl1pPr>
          </a:lstStyle>
          <a:p>
            <a:fld id="{D0CD5BB5-E1A1-C642-89E8-6B7B4C589B04}" type="slidenum">
              <a:rPr lang="en-GB"/>
              <a:pPr/>
              <a:t>‹#›</a:t>
            </a:fld>
            <a:endParaRPr lang="en-GB"/>
          </a:p>
        </p:txBody>
      </p:sp>
    </p:spTree>
    <p:extLst>
      <p:ext uri="{BB962C8B-B14F-4D97-AF65-F5344CB8AC3E}">
        <p14:creationId xmlns:p14="http://schemas.microsoft.com/office/powerpoint/2010/main" val="3958652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GB"/>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charset="0"/>
              </a:defRPr>
            </a:lvl1pPr>
          </a:lstStyle>
          <a:p>
            <a:fld id="{E5C7D4D1-E172-0A46-9165-91068B18AB3C}" type="datetime5">
              <a:rPr lang="en-US"/>
              <a:pPr/>
              <a:t>4-Sep-17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GB"/>
              <a:t>Vodafone  Turkey</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charset="0"/>
              </a:defRPr>
            </a:lvl1pPr>
          </a:lstStyle>
          <a:p>
            <a:fld id="{F3B10274-E523-0844-88F5-ED8E5521D6B2}" type="slidenum">
              <a:rPr lang="en-GB"/>
              <a:pPr/>
              <a:t>‹#›</a:t>
            </a:fld>
            <a:endParaRPr lang="en-GB"/>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iming>
    <p:tnLst>
      <p:par>
        <p:cTn id="1" dur="indefinite" restart="never" nodeType="tmRoot"/>
      </p:par>
    </p:tnLst>
  </p:timing>
  <p:hf hdr="0" dt="0"/>
  <p:txStyles>
    <p:titleStyle>
      <a:lvl1pPr algn="ctr" rtl="0" eaLnBrk="0" fontAlgn="base" hangingPunct="0">
        <a:spcBef>
          <a:spcPct val="0"/>
        </a:spcBef>
        <a:spcAft>
          <a:spcPct val="0"/>
        </a:spcAft>
        <a:defRPr sz="4400" kern="1200">
          <a:solidFill>
            <a:schemeClr val="tx1"/>
          </a:solidFill>
          <a:latin typeface="+mj-lt"/>
          <a:ea typeface="ＭＳ Ｐゴシック" charset="0"/>
          <a:cs typeface="+mj-cs"/>
        </a:defRPr>
      </a:lvl1pPr>
      <a:lvl2pPr algn="ctr" rtl="0" eaLnBrk="0" fontAlgn="base" hangingPunct="0">
        <a:spcBef>
          <a:spcPct val="0"/>
        </a:spcBef>
        <a:spcAft>
          <a:spcPct val="0"/>
        </a:spcAft>
        <a:defRPr sz="4400">
          <a:solidFill>
            <a:schemeClr val="tx1"/>
          </a:solidFill>
          <a:latin typeface="Calibri" pitchFamily="34" charset="0"/>
          <a:ea typeface="ＭＳ Ｐゴシック" charset="0"/>
        </a:defRPr>
      </a:lvl2pPr>
      <a:lvl3pPr algn="ctr" rtl="0" eaLnBrk="0" fontAlgn="base" hangingPunct="0">
        <a:spcBef>
          <a:spcPct val="0"/>
        </a:spcBef>
        <a:spcAft>
          <a:spcPct val="0"/>
        </a:spcAft>
        <a:defRPr sz="4400">
          <a:solidFill>
            <a:schemeClr val="tx1"/>
          </a:solidFill>
          <a:latin typeface="Calibri" pitchFamily="34" charset="0"/>
          <a:ea typeface="ＭＳ Ｐゴシック" charset="0"/>
        </a:defRPr>
      </a:lvl3pPr>
      <a:lvl4pPr algn="ctr" rtl="0" eaLnBrk="0" fontAlgn="base" hangingPunct="0">
        <a:spcBef>
          <a:spcPct val="0"/>
        </a:spcBef>
        <a:spcAft>
          <a:spcPct val="0"/>
        </a:spcAft>
        <a:defRPr sz="4400">
          <a:solidFill>
            <a:schemeClr val="tx1"/>
          </a:solidFill>
          <a:latin typeface="Calibri" pitchFamily="34" charset="0"/>
          <a:ea typeface="ＭＳ Ｐゴシック" charset="0"/>
        </a:defRPr>
      </a:lvl4pPr>
      <a:lvl5pPr algn="ctr" rtl="0" eaLnBrk="0" fontAlgn="base" hangingPunct="0">
        <a:spcBef>
          <a:spcPct val="0"/>
        </a:spcBef>
        <a:spcAft>
          <a:spcPct val="0"/>
        </a:spcAft>
        <a:defRPr sz="4400">
          <a:solidFill>
            <a:schemeClr val="tx1"/>
          </a:solidFill>
          <a:latin typeface="Calibri" pitchFamily="34" charset="0"/>
          <a:ea typeface="ＭＳ Ｐゴシック"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hyperlink" Target="https://blockchain.info/charts"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hyperlink" Target="https://chain.so/testnet/btc"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hyperlink" Target="https://testnet.coinfaucet.eu/en/" TargetMode="External"/><Relationship Id="rId5" Type="http://schemas.openxmlformats.org/officeDocument/2006/relationships/hyperlink" Target="https://www.bitaddress.org/" TargetMode="External"/><Relationship Id="rId4" Type="http://schemas.openxmlformats.org/officeDocument/2006/relationships/hyperlink" Target="https://electrum.org/"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3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3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3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3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5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6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image" Target="../media/image18.jpeg"/><Relationship Id="rId4" Type="http://schemas.openxmlformats.org/officeDocument/2006/relationships/image" Target="../media/image17.jpeg"/></Relationships>
</file>

<file path=ppt/slides/_rels/slide6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19.jpeg"/></Relationships>
</file>

<file path=ppt/slides/_rels/slide6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20.jpeg"/></Relationships>
</file>

<file path=ppt/slides/_rels/slide6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3.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6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22.jpeg"/></Relationships>
</file>

<file path=ppt/slides/_rels/slide6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23.jpeg"/></Relationships>
</file>

<file path=ppt/slides/_rels/slide6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image" Target="../media/image24.jpeg"/></Relationships>
</file>

<file path=ppt/slides/_rels/slide6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25.jpeg"/></Relationships>
</file>

<file path=ppt/slides/_rels/slide7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0.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7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1.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7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hyperlink" Target="http://www.everledger.i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0" y="6149400"/>
            <a:ext cx="360000" cy="327600"/>
          </a:xfrm>
          <a:prstGeom prst="rect">
            <a:avLst/>
          </a:prstGeom>
          <a:solidFill>
            <a:srgbClr val="D84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 </a:t>
            </a:r>
            <a:endParaRPr lang="en-US" dirty="0"/>
          </a:p>
        </p:txBody>
      </p:sp>
      <p:sp>
        <p:nvSpPr>
          <p:cNvPr id="15" name="Rectangle 14"/>
          <p:cNvSpPr/>
          <p:nvPr/>
        </p:nvSpPr>
        <p:spPr>
          <a:xfrm>
            <a:off x="8424000" y="6149400"/>
            <a:ext cx="360000" cy="327600"/>
          </a:xfrm>
          <a:prstGeom prst="rect">
            <a:avLst/>
          </a:prstGeom>
          <a:solidFill>
            <a:srgbClr val="A42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  </a:t>
            </a:r>
            <a:endParaRPr lang="en-US" dirty="0"/>
          </a:p>
        </p:txBody>
      </p:sp>
      <p:sp>
        <p:nvSpPr>
          <p:cNvPr id="16" name="Rectangle 15"/>
          <p:cNvSpPr/>
          <p:nvPr/>
        </p:nvSpPr>
        <p:spPr>
          <a:xfrm>
            <a:off x="8784000" y="6149400"/>
            <a:ext cx="360000" cy="327600"/>
          </a:xfrm>
          <a:prstGeom prst="rect">
            <a:avLst/>
          </a:prstGeom>
          <a:solidFill>
            <a:srgbClr val="5628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 </a:t>
            </a:r>
            <a:endParaRPr lang="en-US" dirty="0"/>
          </a:p>
        </p:txBody>
      </p:sp>
      <p:sp>
        <p:nvSpPr>
          <p:cNvPr id="17" name="TextBox 16"/>
          <p:cNvSpPr txBox="1"/>
          <p:nvPr/>
        </p:nvSpPr>
        <p:spPr>
          <a:xfrm>
            <a:off x="304800" y="6513612"/>
            <a:ext cx="2764200" cy="307777"/>
          </a:xfrm>
          <a:prstGeom prst="rect">
            <a:avLst/>
          </a:prstGeom>
          <a:noFill/>
        </p:spPr>
        <p:txBody>
          <a:bodyPr wrap="square" rtlCol="0" anchor="ctr">
            <a:noAutofit/>
          </a:bodyPr>
          <a:lstStyle/>
          <a:p>
            <a:r>
              <a:rPr lang="en-US" sz="1400" spc="100" dirty="0">
                <a:solidFill>
                  <a:schemeClr val="bg1"/>
                </a:solidFill>
                <a:latin typeface="Helvetica Neue UltraLight"/>
                <a:cs typeface="Helvetica Neue UltraLight"/>
              </a:rPr>
              <a:t>© Copyright </a:t>
            </a:r>
            <a:r>
              <a:rPr lang="en-US" sz="1400" spc="100" dirty="0" smtClean="0">
                <a:solidFill>
                  <a:schemeClr val="bg1"/>
                </a:solidFill>
                <a:latin typeface="Helvetica Neue UltraLight"/>
                <a:cs typeface="Helvetica Neue UltraLight"/>
              </a:rPr>
              <a:t>2015  </a:t>
            </a:r>
            <a:r>
              <a:rPr lang="en-US" sz="1400" spc="100" dirty="0">
                <a:solidFill>
                  <a:schemeClr val="bg1"/>
                </a:solidFill>
                <a:latin typeface="Helvetica Neue UltraLight"/>
                <a:cs typeface="Helvetica Neue UltraLight"/>
              </a:rPr>
              <a:t>I  philogica</a:t>
            </a:r>
          </a:p>
        </p:txBody>
      </p:sp>
      <p:sp>
        <p:nvSpPr>
          <p:cNvPr id="18" name="TextBox 17"/>
          <p:cNvSpPr txBox="1"/>
          <p:nvPr/>
        </p:nvSpPr>
        <p:spPr>
          <a:xfrm>
            <a:off x="4876800" y="6495306"/>
            <a:ext cx="3640500" cy="344388"/>
          </a:xfrm>
          <a:prstGeom prst="rect">
            <a:avLst/>
          </a:prstGeom>
          <a:noFill/>
        </p:spPr>
        <p:txBody>
          <a:bodyPr wrap="square" rtlCol="0" anchor="ctr">
            <a:noAutofit/>
          </a:bodyPr>
          <a:lstStyle/>
          <a:p>
            <a:pPr algn="r"/>
            <a:r>
              <a:rPr lang="en-US" sz="1400" spc="100" dirty="0" smtClean="0">
                <a:solidFill>
                  <a:schemeClr val="bg1"/>
                </a:solidFill>
                <a:latin typeface="Helvetica Neue UltraLight"/>
                <a:cs typeface="Helvetica Neue UltraLight"/>
              </a:rPr>
              <a:t>Aligning Technology with </a:t>
            </a:r>
            <a:r>
              <a:rPr lang="en-US" sz="1400" spc="100" dirty="0">
                <a:solidFill>
                  <a:schemeClr val="bg1"/>
                </a:solidFill>
                <a:latin typeface="Helvetica Neue UltraLight"/>
                <a:cs typeface="Helvetica Neue UltraLight"/>
              </a:rPr>
              <a:t>Your</a:t>
            </a:r>
            <a:r>
              <a:rPr lang="en-US" sz="1400" spc="100" dirty="0" smtClean="0">
                <a:solidFill>
                  <a:schemeClr val="bg1"/>
                </a:solidFill>
                <a:latin typeface="Helvetica Neue UltraLight"/>
                <a:cs typeface="Helvetica Neue UltraLight"/>
              </a:rPr>
              <a:t> Strategy</a:t>
            </a:r>
            <a:endParaRPr lang="en-US" sz="1400" spc="100" dirty="0">
              <a:solidFill>
                <a:schemeClr val="bg1"/>
              </a:solidFill>
              <a:latin typeface="Helvetica Neue UltraLight"/>
              <a:cs typeface="Helvetica Neue UltraLight"/>
            </a:endParaRPr>
          </a:p>
        </p:txBody>
      </p:sp>
      <p:sp>
        <p:nvSpPr>
          <p:cNvPr id="22" name="TextBox 21"/>
          <p:cNvSpPr txBox="1"/>
          <p:nvPr/>
        </p:nvSpPr>
        <p:spPr>
          <a:xfrm>
            <a:off x="304800" y="152400"/>
            <a:ext cx="8153400" cy="969496"/>
          </a:xfrm>
          <a:prstGeom prst="rect">
            <a:avLst/>
          </a:prstGeom>
          <a:noFill/>
        </p:spPr>
        <p:txBody>
          <a:bodyPr wrap="square" rtlCol="0">
            <a:spAutoFit/>
          </a:bodyPr>
          <a:lstStyle/>
          <a:p>
            <a:r>
              <a:rPr lang="en-US" sz="3600" b="1" dirty="0"/>
              <a:t>Bitcoin (</a:t>
            </a:r>
            <a:r>
              <a:rPr lang="en-US" sz="3600" b="1" dirty="0" err="1"/>
              <a:t>Dijital</a:t>
            </a:r>
            <a:r>
              <a:rPr lang="en-US" sz="3600" b="1" dirty="0"/>
              <a:t> Para) </a:t>
            </a:r>
            <a:r>
              <a:rPr lang="tr-TR" sz="3600" b="1" dirty="0" smtClean="0"/>
              <a:t> </a:t>
            </a:r>
            <a:endParaRPr lang="en-US" sz="3600" dirty="0"/>
          </a:p>
          <a:p>
            <a:r>
              <a:rPr lang="tr-TR" sz="2100" cap="all" spc="100" dirty="0" smtClean="0">
                <a:latin typeface="Helvetica Neue UltraLight"/>
                <a:cs typeface="Helvetica Neue UltraLight"/>
              </a:rPr>
              <a:t>TEMEL</a:t>
            </a:r>
            <a:r>
              <a:rPr lang="en-US" sz="2100" cap="all" spc="100" dirty="0" smtClean="0">
                <a:latin typeface="Helvetica Neue UltraLight"/>
                <a:cs typeface="Helvetica Neue UltraLight"/>
              </a:rPr>
              <a:t> EĞİTİMİ – </a:t>
            </a:r>
            <a:r>
              <a:rPr lang="tr-TR" sz="2100" cap="all" spc="100" dirty="0" smtClean="0">
                <a:latin typeface="Helvetica Neue UltraLight"/>
                <a:cs typeface="Helvetica Neue UltraLight"/>
              </a:rPr>
              <a:t>EYLÜL </a:t>
            </a:r>
            <a:r>
              <a:rPr lang="en-US" sz="2100" cap="all" spc="100" dirty="0" smtClean="0">
                <a:latin typeface="Helvetica Neue UltraLight"/>
                <a:cs typeface="Helvetica Neue UltraLight"/>
              </a:rPr>
              <a:t>201</a:t>
            </a:r>
            <a:r>
              <a:rPr lang="tr-TR" sz="2100" cap="all" spc="100" dirty="0">
                <a:latin typeface="Helvetica Neue UltraLight"/>
                <a:cs typeface="Helvetica Neue UltraLight"/>
              </a:rPr>
              <a:t>7</a:t>
            </a:r>
            <a:endParaRPr lang="en-US" sz="2100" cap="all" spc="100" dirty="0">
              <a:solidFill>
                <a:srgbClr val="D84224"/>
              </a:solidFill>
              <a:latin typeface="Helvetica Neue UltraLight"/>
              <a:cs typeface="Helvetica Neue UltraLight"/>
            </a:endParaRPr>
          </a:p>
        </p:txBody>
      </p:sp>
      <p:pic>
        <p:nvPicPr>
          <p:cNvPr id="11" name="Picture 2" descr="C:\Documents and Settings\Roman\Desktop\bitcoin1.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5900" y="3857182"/>
            <a:ext cx="1943100" cy="19431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3" descr="C:\Documents and Settings\Roman\Desktop\gold.jpe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1408435"/>
            <a:ext cx="4112385" cy="183535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373059" y="1428404"/>
            <a:ext cx="3515872" cy="1815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descr="http://www.sikharchives.com/wp-content/uploads/2011/12/bitcoin_mining_setup.jpeg"/>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4067944" y="3372176"/>
            <a:ext cx="4081636" cy="29131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2</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Eğitmen: Ender Akpil?</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1547664" y="1700808"/>
            <a:ext cx="7128792" cy="3231654"/>
          </a:xfrm>
          <a:prstGeom prst="rect">
            <a:avLst/>
          </a:prstGeom>
          <a:noFill/>
        </p:spPr>
        <p:txBody>
          <a:bodyPr wrap="square" rtlCol="0">
            <a:spAutoFit/>
          </a:bodyPr>
          <a:lstStyle/>
          <a:p>
            <a:pPr>
              <a:lnSpc>
                <a:spcPct val="120000"/>
              </a:lnSpc>
            </a:pPr>
            <a:r>
              <a:rPr lang="en-US" sz="1700" b="1" u="sng" dirty="0" smtClean="0">
                <a:latin typeface="+mn-lt"/>
              </a:rPr>
              <a:t>AKADEMİK </a:t>
            </a:r>
          </a:p>
          <a:p>
            <a:pPr marL="285750" indent="-285750">
              <a:lnSpc>
                <a:spcPct val="120000"/>
              </a:lnSpc>
              <a:buFont typeface="Wingdings" charset="2"/>
              <a:buChar char="§"/>
            </a:pPr>
            <a:r>
              <a:rPr lang="tr-TR" sz="1700" dirty="0" smtClean="0">
                <a:latin typeface="+mn-lt"/>
              </a:rPr>
              <a:t>ODTU MATH </a:t>
            </a:r>
            <a:r>
              <a:rPr lang="tr-TR" sz="1700" i="1" dirty="0" smtClean="0">
                <a:latin typeface="+mn-lt"/>
              </a:rPr>
              <a:t> </a:t>
            </a:r>
            <a:endParaRPr lang="en-US" sz="1700" i="1" dirty="0" smtClean="0">
              <a:latin typeface="+mn-lt"/>
            </a:endParaRPr>
          </a:p>
          <a:p>
            <a:pPr marL="285750" indent="-285750">
              <a:lnSpc>
                <a:spcPct val="120000"/>
              </a:lnSpc>
              <a:buFont typeface="Wingdings" charset="2"/>
              <a:buChar char="§"/>
            </a:pPr>
            <a:r>
              <a:rPr lang="tr-TR" sz="1700" dirty="0" smtClean="0">
                <a:latin typeface="+mn-lt"/>
              </a:rPr>
              <a:t>AKTUERYA BAHCESEHIR</a:t>
            </a:r>
            <a:r>
              <a:rPr lang="tr-TR" sz="1700" i="1" dirty="0" smtClean="0">
                <a:latin typeface="+mn-lt"/>
              </a:rPr>
              <a:t> </a:t>
            </a:r>
            <a:endParaRPr lang="en-US" sz="1700" b="1" i="1" dirty="0" smtClean="0">
              <a:latin typeface="+mn-lt"/>
            </a:endParaRPr>
          </a:p>
          <a:p>
            <a:pPr>
              <a:lnSpc>
                <a:spcPct val="120000"/>
              </a:lnSpc>
            </a:pPr>
            <a:endParaRPr lang="en-US" sz="1700" dirty="0" smtClean="0">
              <a:latin typeface="+mn-lt"/>
            </a:endParaRPr>
          </a:p>
          <a:p>
            <a:pPr>
              <a:lnSpc>
                <a:spcPct val="120000"/>
              </a:lnSpc>
            </a:pPr>
            <a:r>
              <a:rPr lang="en-US" sz="1700" b="1" u="sng" dirty="0" smtClean="0">
                <a:latin typeface="+mn-lt"/>
              </a:rPr>
              <a:t>1</a:t>
            </a:r>
            <a:r>
              <a:rPr lang="tr-TR" sz="1700" b="1" u="sng" dirty="0" smtClean="0">
                <a:latin typeface="+mn-lt"/>
              </a:rPr>
              <a:t>8</a:t>
            </a:r>
            <a:r>
              <a:rPr lang="en-US" sz="1700" b="1" u="sng" dirty="0" smtClean="0">
                <a:latin typeface="+mn-lt"/>
              </a:rPr>
              <a:t> YIL </a:t>
            </a:r>
            <a:r>
              <a:rPr lang="tr-TR" sz="1700" b="1" u="sng" dirty="0" smtClean="0">
                <a:latin typeface="+mn-lt"/>
              </a:rPr>
              <a:t>YAZILIM ve VERİ TEKNOLOJİLERİ DENEYİMİ</a:t>
            </a:r>
            <a:endParaRPr lang="en-US" sz="1700" b="1" u="sng" dirty="0" smtClean="0">
              <a:latin typeface="+mn-lt"/>
            </a:endParaRPr>
          </a:p>
          <a:p>
            <a:pPr marL="285750" indent="-285750">
              <a:lnSpc>
                <a:spcPct val="120000"/>
              </a:lnSpc>
              <a:buFont typeface="Wingdings" charset="2"/>
              <a:buChar char="§"/>
            </a:pPr>
            <a:r>
              <a:rPr lang="en-US" sz="1700" dirty="0" smtClean="0">
                <a:latin typeface="+mn-lt"/>
              </a:rPr>
              <a:t>15 </a:t>
            </a:r>
            <a:r>
              <a:rPr lang="en-US" sz="1700" dirty="0" err="1">
                <a:latin typeface="+mn-lt"/>
              </a:rPr>
              <a:t>yil</a:t>
            </a:r>
            <a:r>
              <a:rPr lang="en-US" sz="1700" dirty="0">
                <a:latin typeface="+mn-lt"/>
              </a:rPr>
              <a:t> </a:t>
            </a:r>
            <a:r>
              <a:rPr lang="en-US" sz="1700" dirty="0" err="1">
                <a:latin typeface="+mn-lt"/>
              </a:rPr>
              <a:t>Raporlama</a:t>
            </a:r>
            <a:r>
              <a:rPr lang="en-US" sz="1700" dirty="0">
                <a:latin typeface="+mn-lt"/>
              </a:rPr>
              <a:t>-MIS-DW-BI-CRM </a:t>
            </a:r>
            <a:r>
              <a:rPr lang="tr-TR" sz="1700" dirty="0" smtClean="0">
                <a:latin typeface="+mn-lt"/>
              </a:rPr>
              <a:t> </a:t>
            </a:r>
            <a:endParaRPr lang="en-US" sz="1700" dirty="0" smtClean="0">
              <a:latin typeface="+mn-lt"/>
            </a:endParaRPr>
          </a:p>
          <a:p>
            <a:pPr marL="285750" indent="-285750">
              <a:lnSpc>
                <a:spcPct val="120000"/>
              </a:lnSpc>
              <a:buFont typeface="Wingdings" charset="2"/>
              <a:buChar char="§"/>
            </a:pPr>
            <a:r>
              <a:rPr lang="en-US" sz="1700" dirty="0" smtClean="0">
                <a:latin typeface="+mn-lt"/>
              </a:rPr>
              <a:t>Yazilim </a:t>
            </a:r>
            <a:r>
              <a:rPr lang="en-US" sz="1700" dirty="0" err="1" smtClean="0">
                <a:latin typeface="+mn-lt"/>
              </a:rPr>
              <a:t>Gelistirme</a:t>
            </a:r>
            <a:r>
              <a:rPr lang="en-US" sz="1700" dirty="0" smtClean="0">
                <a:latin typeface="+mn-lt"/>
              </a:rPr>
              <a:t> </a:t>
            </a:r>
            <a:r>
              <a:rPr lang="tr-TR" sz="1700" i="1" dirty="0" smtClean="0">
                <a:latin typeface="+mn-lt"/>
              </a:rPr>
              <a:t> </a:t>
            </a:r>
            <a:endParaRPr lang="en-US" sz="1700" i="1" dirty="0" smtClean="0">
              <a:latin typeface="+mn-lt"/>
            </a:endParaRPr>
          </a:p>
          <a:p>
            <a:pPr marL="285750" indent="-285750">
              <a:lnSpc>
                <a:spcPct val="120000"/>
              </a:lnSpc>
              <a:buFont typeface="Wingdings" charset="2"/>
              <a:buChar char="§"/>
            </a:pPr>
            <a:r>
              <a:rPr lang="en-US" sz="1700" dirty="0" smtClean="0">
                <a:latin typeface="+mn-lt"/>
              </a:rPr>
              <a:t>Test </a:t>
            </a:r>
            <a:r>
              <a:rPr lang="en-US" sz="1700" dirty="0" err="1" smtClean="0">
                <a:latin typeface="+mn-lt"/>
              </a:rPr>
              <a:t>Muhendisligi</a:t>
            </a:r>
            <a:r>
              <a:rPr lang="en-US" sz="1700" dirty="0" smtClean="0">
                <a:latin typeface="+mn-lt"/>
              </a:rPr>
              <a:t> </a:t>
            </a:r>
            <a:endParaRPr lang="en-US" sz="1700" i="1" dirty="0" smtClean="0">
              <a:latin typeface="+mn-lt"/>
            </a:endParaRPr>
          </a:p>
          <a:p>
            <a:pPr marL="285750" indent="-285750">
              <a:lnSpc>
                <a:spcPct val="120000"/>
              </a:lnSpc>
              <a:buFont typeface="Wingdings" charset="2"/>
              <a:buChar char="§"/>
            </a:pPr>
            <a:r>
              <a:rPr lang="en-US" sz="1700" dirty="0" smtClean="0">
                <a:latin typeface="+mn-lt"/>
              </a:rPr>
              <a:t>Is </a:t>
            </a:r>
            <a:r>
              <a:rPr lang="en-US" sz="1700" dirty="0" err="1" smtClean="0">
                <a:latin typeface="+mn-lt"/>
              </a:rPr>
              <a:t>Analistligi</a:t>
            </a:r>
            <a:r>
              <a:rPr lang="en-US" sz="1700" dirty="0" smtClean="0">
                <a:latin typeface="+mn-lt"/>
              </a:rPr>
              <a:t> </a:t>
            </a:r>
            <a:endParaRPr lang="tr-TR" sz="1700" i="1" dirty="0">
              <a:latin typeface="+mn-lt"/>
            </a:endParaRPr>
          </a:p>
          <a:p>
            <a:pPr marL="285750" indent="-285750">
              <a:lnSpc>
                <a:spcPct val="120000"/>
              </a:lnSpc>
              <a:buFont typeface="Wingdings" charset="2"/>
              <a:buChar char="§"/>
            </a:pPr>
            <a:r>
              <a:rPr lang="en-US" sz="1700" dirty="0" err="1" smtClean="0">
                <a:latin typeface="+mn-lt"/>
              </a:rPr>
              <a:t>Proje</a:t>
            </a:r>
            <a:r>
              <a:rPr lang="en-US" sz="1700" dirty="0" smtClean="0">
                <a:latin typeface="+mn-lt"/>
              </a:rPr>
              <a:t> </a:t>
            </a:r>
            <a:r>
              <a:rPr lang="en-US" sz="1700" dirty="0" err="1" smtClean="0">
                <a:latin typeface="+mn-lt"/>
              </a:rPr>
              <a:t>Yoneticiligi</a:t>
            </a:r>
            <a:endParaRPr lang="en-US" sz="1700" b="1" dirty="0" smtClean="0">
              <a:latin typeface="+mn-lt"/>
            </a:endParaRPr>
          </a:p>
        </p:txBody>
      </p:sp>
    </p:spTree>
    <p:extLst>
      <p:ext uri="{BB962C8B-B14F-4D97-AF65-F5344CB8AC3E}">
        <p14:creationId xmlns:p14="http://schemas.microsoft.com/office/powerpoint/2010/main" val="3465130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3</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a:solidFill>
                  <a:srgbClr val="FCB51C"/>
                </a:solidFill>
              </a:rPr>
              <a:t>1</a:t>
            </a:r>
            <a:r>
              <a:rPr lang="tr-TR" sz="3200" b="1" dirty="0" smtClean="0">
                <a:solidFill>
                  <a:srgbClr val="FCB51C"/>
                </a:solidFill>
              </a:rPr>
              <a:t> günü bu eğitim için harcamak?</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1331640" y="1556792"/>
            <a:ext cx="7704856" cy="3929281"/>
          </a:xfrm>
          <a:prstGeom prst="rect">
            <a:avLst/>
          </a:prstGeom>
          <a:noFill/>
        </p:spPr>
        <p:txBody>
          <a:bodyPr wrap="square" rtlCol="0">
            <a:spAutoFit/>
          </a:bodyPr>
          <a:lstStyle/>
          <a:p>
            <a:pPr marL="514350" indent="-514350">
              <a:lnSpc>
                <a:spcPct val="150000"/>
              </a:lnSpc>
              <a:buFont typeface="+mj-ea"/>
              <a:buAutoNum type="circleNumDbPlain"/>
            </a:pPr>
            <a:r>
              <a:rPr lang="tr-TR" sz="3200" dirty="0" smtClean="0">
                <a:latin typeface="+mn-lt"/>
              </a:rPr>
              <a:t>Bu eğitimi neden tercih ettiniz?</a:t>
            </a:r>
          </a:p>
          <a:p>
            <a:pPr>
              <a:lnSpc>
                <a:spcPct val="150000"/>
              </a:lnSpc>
            </a:pPr>
            <a:r>
              <a:rPr lang="tr-TR" sz="2400" dirty="0" smtClean="0">
                <a:latin typeface="+mn-lt"/>
              </a:rPr>
              <a:t>Geçmişteki eğitimlerden öne çıkan sıra dışı cevaplar: </a:t>
            </a:r>
          </a:p>
          <a:p>
            <a:pPr>
              <a:lnSpc>
                <a:spcPct val="150000"/>
              </a:lnSpc>
            </a:pPr>
            <a:r>
              <a:rPr lang="tr-TR" sz="2000" dirty="0">
                <a:latin typeface="+mn-lt"/>
              </a:rPr>
              <a:t>-</a:t>
            </a:r>
            <a:r>
              <a:rPr lang="tr-TR" sz="2000" dirty="0" smtClean="0">
                <a:latin typeface="+mn-lt"/>
              </a:rPr>
              <a:t>Eğitim ismi ilginç geldi ! </a:t>
            </a:r>
          </a:p>
          <a:p>
            <a:pPr>
              <a:lnSpc>
                <a:spcPct val="150000"/>
              </a:lnSpc>
            </a:pPr>
            <a:r>
              <a:rPr lang="tr-TR" sz="2000" dirty="0" smtClean="0">
                <a:latin typeface="+mn-lt"/>
              </a:rPr>
              <a:t>-İş yoğunluğundan ötürü nefes alma fırsatı olarak gördüm !</a:t>
            </a:r>
          </a:p>
          <a:p>
            <a:pPr>
              <a:lnSpc>
                <a:spcPct val="150000"/>
              </a:lnSpc>
            </a:pPr>
            <a:r>
              <a:rPr lang="tr-TR" sz="2000" dirty="0">
                <a:latin typeface="+mn-lt"/>
              </a:rPr>
              <a:t>-</a:t>
            </a:r>
            <a:r>
              <a:rPr lang="tr-TR" sz="2000" dirty="0" smtClean="0">
                <a:latin typeface="+mn-lt"/>
              </a:rPr>
              <a:t>Son anda katılacak arkadaşın yerine ben gelmek zorunda kaldım !</a:t>
            </a:r>
          </a:p>
          <a:p>
            <a:pPr>
              <a:lnSpc>
                <a:spcPct val="150000"/>
              </a:lnSpc>
            </a:pPr>
            <a:r>
              <a:rPr lang="tr-TR" sz="2000" dirty="0" smtClean="0">
                <a:latin typeface="+mn-lt"/>
              </a:rPr>
              <a:t>-Kişisel gelişim eğitimi değil mi?</a:t>
            </a:r>
          </a:p>
          <a:p>
            <a:pPr marL="514350" indent="-514350">
              <a:lnSpc>
                <a:spcPct val="150000"/>
              </a:lnSpc>
              <a:buFont typeface="+mj-ea"/>
              <a:buAutoNum type="circleNumDbPlain" startAt="2"/>
            </a:pPr>
            <a:r>
              <a:rPr lang="tr-TR" sz="3200" dirty="0" smtClean="0">
                <a:latin typeface="+mn-lt"/>
              </a:rPr>
              <a:t>Görev tanımınız / Kariyeriniz ile keşişimi?</a:t>
            </a:r>
            <a:endParaRPr lang="en-US" sz="3200" dirty="0" smtClean="0">
              <a:latin typeface="+mn-lt"/>
            </a:endParaRPr>
          </a:p>
        </p:txBody>
      </p:sp>
    </p:spTree>
    <p:extLst>
      <p:ext uri="{BB962C8B-B14F-4D97-AF65-F5344CB8AC3E}">
        <p14:creationId xmlns:p14="http://schemas.microsoft.com/office/powerpoint/2010/main" val="2077186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xEl>
                                              <p:pRg st="1" end="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xEl>
                                              <p:pRg st="2" end="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xEl>
                                              <p:pRg st="3" end="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4" end="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4</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smtClean="0">
                <a:solidFill>
                  <a:srgbClr val="898989"/>
                </a:solidFill>
                <a:latin typeface="Calibri" charset="0"/>
              </a:rPr>
              <a:t>Bitcoin (Digital Para) Temel </a:t>
            </a:r>
            <a:r>
              <a:rPr lang="tr-TR" dirty="0">
                <a:solidFill>
                  <a:srgbClr val="898989"/>
                </a:solidFill>
                <a:latin typeface="Calibri" charset="0"/>
              </a:rPr>
              <a:t>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Hedef Kitle ve Genel Felsefe</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1331640" y="1424832"/>
            <a:ext cx="7704856" cy="4400179"/>
          </a:xfrm>
          <a:prstGeom prst="rect">
            <a:avLst/>
          </a:prstGeom>
          <a:noFill/>
        </p:spPr>
        <p:txBody>
          <a:bodyPr wrap="square" rtlCol="0">
            <a:spAutoFit/>
          </a:bodyPr>
          <a:lstStyle/>
          <a:p>
            <a:pPr marL="285750" indent="-285750">
              <a:lnSpc>
                <a:spcPct val="120000"/>
              </a:lnSpc>
              <a:buFont typeface="Wingdings" charset="2"/>
              <a:buChar char="§"/>
            </a:pPr>
            <a:r>
              <a:rPr lang="en-US" sz="2600" b="1" dirty="0" err="1" smtClean="0">
                <a:latin typeface="+mn-lt"/>
              </a:rPr>
              <a:t>Baslangıç</a:t>
            </a:r>
            <a:r>
              <a:rPr lang="en-US" sz="2600" b="1" dirty="0" smtClean="0">
                <a:latin typeface="+mn-lt"/>
              </a:rPr>
              <a:t> </a:t>
            </a:r>
            <a:r>
              <a:rPr lang="en-US" sz="2600" b="1" dirty="0" err="1" smtClean="0">
                <a:latin typeface="+mn-lt"/>
              </a:rPr>
              <a:t>E</a:t>
            </a:r>
            <a:r>
              <a:rPr lang="en-US" sz="2600" b="1" dirty="0" err="1">
                <a:latin typeface="+mn-lt"/>
              </a:rPr>
              <a:t>ğ</a:t>
            </a:r>
            <a:r>
              <a:rPr lang="en-US" sz="2600" b="1" dirty="0" err="1" smtClean="0">
                <a:latin typeface="+mn-lt"/>
              </a:rPr>
              <a:t>itimi</a:t>
            </a:r>
            <a:r>
              <a:rPr lang="en-US" sz="2600" b="1" dirty="0" smtClean="0">
                <a:latin typeface="+mn-lt"/>
              </a:rPr>
              <a:t> </a:t>
            </a:r>
            <a:r>
              <a:rPr lang="en-US" sz="2600" dirty="0" smtClean="0">
                <a:latin typeface="+mn-lt"/>
              </a:rPr>
              <a:t>– </a:t>
            </a:r>
            <a:r>
              <a:rPr lang="tr-TR" sz="2600" dirty="0" smtClean="0">
                <a:latin typeface="+mn-lt"/>
              </a:rPr>
              <a:t>Bitcoin 101</a:t>
            </a:r>
            <a:endParaRPr lang="en-US" sz="2600" dirty="0" smtClean="0">
              <a:latin typeface="+mn-lt"/>
            </a:endParaRPr>
          </a:p>
          <a:p>
            <a:pPr marL="285750" indent="-285750">
              <a:lnSpc>
                <a:spcPct val="120000"/>
              </a:lnSpc>
              <a:buFont typeface="Wingdings" charset="2"/>
              <a:buChar char="§"/>
            </a:pPr>
            <a:r>
              <a:rPr lang="tr-TR" sz="2600" dirty="0" smtClean="0">
                <a:latin typeface="+mn-lt"/>
              </a:rPr>
              <a:t>TBB Bünyesinde ilk</a:t>
            </a:r>
            <a:r>
              <a:rPr lang="en-US" sz="2600" dirty="0" smtClean="0">
                <a:latin typeface="+mn-lt"/>
              </a:rPr>
              <a:t>.</a:t>
            </a:r>
          </a:p>
          <a:p>
            <a:pPr marL="285750" indent="-285750">
              <a:lnSpc>
                <a:spcPct val="120000"/>
              </a:lnSpc>
              <a:buFont typeface="Wingdings" charset="2"/>
              <a:buChar char="§"/>
            </a:pPr>
            <a:r>
              <a:rPr lang="en-US" sz="2600" dirty="0" err="1" smtClean="0">
                <a:latin typeface="+mn-lt"/>
              </a:rPr>
              <a:t>Teknolojistler</a:t>
            </a:r>
            <a:r>
              <a:rPr lang="en-US" sz="2600" dirty="0">
                <a:latin typeface="+mn-lt"/>
              </a:rPr>
              <a:t> </a:t>
            </a:r>
            <a:r>
              <a:rPr lang="en-US" sz="2600" dirty="0" smtClean="0">
                <a:latin typeface="+mn-lt"/>
              </a:rPr>
              <a:t>(</a:t>
            </a:r>
            <a:r>
              <a:rPr lang="en-US" sz="2600" dirty="0" err="1" smtClean="0">
                <a:latin typeface="+mn-lt"/>
              </a:rPr>
              <a:t>Yazilim,Analiz,Test,Proje,Veri</a:t>
            </a:r>
            <a:r>
              <a:rPr lang="en-US" sz="2600" dirty="0" smtClean="0">
                <a:latin typeface="+mn-lt"/>
              </a:rPr>
              <a:t> </a:t>
            </a:r>
            <a:r>
              <a:rPr lang="en-US" sz="2600" dirty="0" err="1" smtClean="0">
                <a:latin typeface="+mn-lt"/>
              </a:rPr>
              <a:t>Tabanı</a:t>
            </a:r>
            <a:r>
              <a:rPr lang="en-US" sz="2600" dirty="0" smtClean="0">
                <a:latin typeface="+mn-lt"/>
              </a:rPr>
              <a:t>) </a:t>
            </a:r>
          </a:p>
          <a:p>
            <a:pPr marL="285750" indent="-285750">
              <a:lnSpc>
                <a:spcPct val="120000"/>
              </a:lnSpc>
              <a:buFont typeface="Wingdings" charset="2"/>
              <a:buChar char="§"/>
            </a:pPr>
            <a:r>
              <a:rPr lang="en-US" sz="2600" dirty="0" smtClean="0">
                <a:latin typeface="+mn-lt"/>
              </a:rPr>
              <a:t>Is </a:t>
            </a:r>
            <a:r>
              <a:rPr lang="en-US" sz="2600" dirty="0" err="1" smtClean="0">
                <a:latin typeface="+mn-lt"/>
              </a:rPr>
              <a:t>Birimlerinden</a:t>
            </a:r>
            <a:r>
              <a:rPr lang="en-US" sz="2600" dirty="0" smtClean="0">
                <a:latin typeface="+mn-lt"/>
              </a:rPr>
              <a:t> </a:t>
            </a:r>
            <a:r>
              <a:rPr lang="en-US" sz="2600" dirty="0" err="1" smtClean="0">
                <a:latin typeface="+mn-lt"/>
              </a:rPr>
              <a:t>Kullanicilar</a:t>
            </a:r>
            <a:r>
              <a:rPr lang="en-US" sz="2600" dirty="0" smtClean="0">
                <a:latin typeface="+mn-lt"/>
              </a:rPr>
              <a:t>/</a:t>
            </a:r>
            <a:r>
              <a:rPr lang="en-US" sz="2600" dirty="0" err="1" smtClean="0">
                <a:latin typeface="+mn-lt"/>
              </a:rPr>
              <a:t>Karar</a:t>
            </a:r>
            <a:r>
              <a:rPr lang="en-US" sz="2600" dirty="0" smtClean="0">
                <a:latin typeface="+mn-lt"/>
              </a:rPr>
              <a:t> </a:t>
            </a:r>
            <a:r>
              <a:rPr lang="en-US" sz="2600" dirty="0" err="1" smtClean="0">
                <a:latin typeface="+mn-lt"/>
              </a:rPr>
              <a:t>Vericiler</a:t>
            </a:r>
            <a:r>
              <a:rPr lang="en-US" sz="2600" dirty="0" smtClean="0">
                <a:latin typeface="+mn-lt"/>
              </a:rPr>
              <a:t>.</a:t>
            </a:r>
            <a:endParaRPr lang="en-US" sz="2600" dirty="0">
              <a:latin typeface="+mn-lt"/>
            </a:endParaRPr>
          </a:p>
          <a:p>
            <a:pPr marL="285750" indent="-285750">
              <a:lnSpc>
                <a:spcPct val="120000"/>
              </a:lnSpc>
              <a:buFont typeface="Wingdings" charset="2"/>
              <a:buChar char="§"/>
            </a:pPr>
            <a:r>
              <a:rPr lang="tr-TR" sz="2600" dirty="0" smtClean="0">
                <a:latin typeface="+mn-lt"/>
              </a:rPr>
              <a:t> </a:t>
            </a:r>
            <a:r>
              <a:rPr lang="en-US" sz="2600" b="1" dirty="0" err="1" smtClean="0">
                <a:latin typeface="+mn-lt"/>
              </a:rPr>
              <a:t>Bireylere</a:t>
            </a:r>
            <a:r>
              <a:rPr lang="en-US" sz="2600" b="1" dirty="0" smtClean="0">
                <a:latin typeface="+mn-lt"/>
              </a:rPr>
              <a:t> </a:t>
            </a:r>
            <a:r>
              <a:rPr lang="en-US" sz="2600" b="1" dirty="0" err="1">
                <a:latin typeface="+mn-lt"/>
              </a:rPr>
              <a:t>odakli</a:t>
            </a:r>
            <a:r>
              <a:rPr lang="en-US" sz="2600" b="1" dirty="0">
                <a:latin typeface="+mn-lt"/>
              </a:rPr>
              <a:t> </a:t>
            </a:r>
            <a:r>
              <a:rPr lang="tr-TR" sz="2600" dirty="0" smtClean="0">
                <a:latin typeface="+mn-lt"/>
              </a:rPr>
              <a:t> </a:t>
            </a:r>
            <a:endParaRPr lang="en-US" sz="2600" dirty="0" smtClean="0">
              <a:latin typeface="+mn-lt"/>
            </a:endParaRPr>
          </a:p>
          <a:p>
            <a:pPr marL="285750" indent="-285750">
              <a:lnSpc>
                <a:spcPct val="120000"/>
              </a:lnSpc>
              <a:buFont typeface="Wingdings" charset="2"/>
              <a:buChar char="§"/>
            </a:pPr>
            <a:r>
              <a:rPr lang="en-US" sz="2600" dirty="0" smtClean="0">
                <a:latin typeface="+mn-lt"/>
              </a:rPr>
              <a:t>“</a:t>
            </a:r>
            <a:r>
              <a:rPr lang="en-US" sz="2600" dirty="0" err="1" smtClean="0">
                <a:latin typeface="+mn-lt"/>
              </a:rPr>
              <a:t>Kisisel</a:t>
            </a:r>
            <a:r>
              <a:rPr lang="en-US" sz="2600" dirty="0" smtClean="0">
                <a:latin typeface="+mn-lt"/>
              </a:rPr>
              <a:t> </a:t>
            </a:r>
            <a:r>
              <a:rPr lang="en-US" sz="2600" dirty="0" err="1" smtClean="0">
                <a:latin typeface="+mn-lt"/>
              </a:rPr>
              <a:t>Gelisim</a:t>
            </a:r>
            <a:r>
              <a:rPr lang="en-US" sz="2600" dirty="0" smtClean="0">
                <a:latin typeface="+mn-lt"/>
              </a:rPr>
              <a:t>” </a:t>
            </a:r>
            <a:r>
              <a:rPr lang="en-US" sz="2600" dirty="0" err="1" smtClean="0">
                <a:latin typeface="+mn-lt"/>
              </a:rPr>
              <a:t>tadinda</a:t>
            </a:r>
            <a:r>
              <a:rPr lang="en-US" sz="2600" dirty="0" smtClean="0">
                <a:latin typeface="+mn-lt"/>
              </a:rPr>
              <a:t>: “</a:t>
            </a:r>
            <a:r>
              <a:rPr lang="en-US" sz="2600" dirty="0" err="1" smtClean="0">
                <a:latin typeface="+mn-lt"/>
              </a:rPr>
              <a:t>Bakis</a:t>
            </a:r>
            <a:r>
              <a:rPr lang="en-US" sz="2600" dirty="0" smtClean="0">
                <a:latin typeface="+mn-lt"/>
              </a:rPr>
              <a:t> </a:t>
            </a:r>
            <a:r>
              <a:rPr lang="en-US" sz="2600" dirty="0" err="1" smtClean="0">
                <a:latin typeface="+mn-lt"/>
              </a:rPr>
              <a:t>Acisi</a:t>
            </a:r>
            <a:r>
              <a:rPr lang="en-US" sz="2600" dirty="0" smtClean="0">
                <a:latin typeface="+mn-lt"/>
              </a:rPr>
              <a:t> </a:t>
            </a:r>
            <a:r>
              <a:rPr lang="en-US" sz="2600" dirty="0" err="1" smtClean="0">
                <a:latin typeface="+mn-lt"/>
              </a:rPr>
              <a:t>Degisikligi</a:t>
            </a:r>
            <a:r>
              <a:rPr lang="en-US" sz="2600" dirty="0" smtClean="0">
                <a:latin typeface="+mn-lt"/>
              </a:rPr>
              <a:t>” </a:t>
            </a:r>
          </a:p>
          <a:p>
            <a:pPr marL="285750" indent="-285750">
              <a:lnSpc>
                <a:spcPct val="120000"/>
              </a:lnSpc>
              <a:buFont typeface="Wingdings" charset="2"/>
              <a:buChar char="§"/>
            </a:pPr>
            <a:r>
              <a:rPr lang="en-US" sz="2600" dirty="0" err="1" smtClean="0">
                <a:latin typeface="+mn-lt"/>
              </a:rPr>
              <a:t>Interaktif</a:t>
            </a:r>
            <a:r>
              <a:rPr lang="en-US" sz="2600" dirty="0" smtClean="0">
                <a:latin typeface="+mn-lt"/>
              </a:rPr>
              <a:t> ve </a:t>
            </a:r>
            <a:r>
              <a:rPr lang="en-US" sz="2600" dirty="0" err="1" smtClean="0">
                <a:latin typeface="+mn-lt"/>
              </a:rPr>
              <a:t>deneyim</a:t>
            </a:r>
            <a:r>
              <a:rPr lang="en-US" sz="2600" dirty="0" smtClean="0">
                <a:latin typeface="+mn-lt"/>
              </a:rPr>
              <a:t> </a:t>
            </a:r>
            <a:r>
              <a:rPr lang="en-US" sz="2600" dirty="0" err="1" smtClean="0">
                <a:latin typeface="+mn-lt"/>
              </a:rPr>
              <a:t>paylasimina</a:t>
            </a:r>
            <a:r>
              <a:rPr lang="en-US" sz="2600" dirty="0" smtClean="0">
                <a:latin typeface="+mn-lt"/>
              </a:rPr>
              <a:t> </a:t>
            </a:r>
            <a:r>
              <a:rPr lang="en-US" sz="2600" dirty="0" err="1" smtClean="0">
                <a:latin typeface="+mn-lt"/>
              </a:rPr>
              <a:t>dayali</a:t>
            </a:r>
            <a:r>
              <a:rPr lang="en-US" sz="2600" dirty="0" smtClean="0">
                <a:latin typeface="+mn-lt"/>
              </a:rPr>
              <a:t>.</a:t>
            </a:r>
          </a:p>
          <a:p>
            <a:pPr marL="342900" indent="-342900">
              <a:lnSpc>
                <a:spcPct val="120000"/>
              </a:lnSpc>
              <a:buFont typeface="Wingdings" charset="2"/>
              <a:buChar char="§"/>
            </a:pPr>
            <a:r>
              <a:rPr lang="en-US" sz="2600" dirty="0" err="1" smtClean="0">
                <a:latin typeface="+mn-lt"/>
              </a:rPr>
              <a:t>Devam</a:t>
            </a:r>
            <a:r>
              <a:rPr lang="tr-TR" sz="2600" dirty="0" smtClean="0">
                <a:latin typeface="+mn-lt"/>
              </a:rPr>
              <a:t>ı gelicek...</a:t>
            </a:r>
            <a:endParaRPr lang="en-US" sz="2600" dirty="0" smtClean="0">
              <a:latin typeface="+mn-lt"/>
            </a:endParaRPr>
          </a:p>
          <a:p>
            <a:pPr marL="342900" indent="-342900">
              <a:lnSpc>
                <a:spcPct val="120000"/>
              </a:lnSpc>
              <a:buFont typeface="Wingdings" charset="2"/>
              <a:buChar char="§"/>
            </a:pPr>
            <a:endParaRPr lang="en-US" sz="2600" dirty="0" smtClean="0">
              <a:latin typeface="+mn-lt"/>
            </a:endParaRPr>
          </a:p>
        </p:txBody>
      </p:sp>
    </p:spTree>
    <p:extLst>
      <p:ext uri="{BB962C8B-B14F-4D97-AF65-F5344CB8AC3E}">
        <p14:creationId xmlns:p14="http://schemas.microsoft.com/office/powerpoint/2010/main" val="2226231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5</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smtClean="0">
                <a:solidFill>
                  <a:srgbClr val="898989"/>
                </a:solidFill>
                <a:latin typeface="Calibri" charset="0"/>
              </a:rPr>
              <a:t>Bitcoin (Digital Para) Temel </a:t>
            </a:r>
            <a:r>
              <a:rPr lang="tr-TR" dirty="0">
                <a:solidFill>
                  <a:srgbClr val="898989"/>
                </a:solidFill>
                <a:latin typeface="Calibri" charset="0"/>
              </a:rPr>
              <a:t>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Eğitimde Hedeflenen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1331640" y="1424832"/>
            <a:ext cx="7704856" cy="5373779"/>
          </a:xfrm>
          <a:prstGeom prst="rect">
            <a:avLst/>
          </a:prstGeom>
          <a:noFill/>
        </p:spPr>
        <p:txBody>
          <a:bodyPr wrap="square" rtlCol="0">
            <a:spAutoFit/>
          </a:bodyPr>
          <a:lstStyle/>
          <a:p>
            <a:pPr marL="285750" indent="-285750">
              <a:lnSpc>
                <a:spcPct val="120000"/>
              </a:lnSpc>
              <a:buFont typeface="Wingdings" charset="2"/>
              <a:buChar char="§"/>
            </a:pPr>
            <a:r>
              <a:rPr lang="tr-TR" sz="2600" b="1" dirty="0" smtClean="0">
                <a:latin typeface="+mn-lt"/>
              </a:rPr>
              <a:t>Temel Kavramları Anlamış Olmanız</a:t>
            </a:r>
            <a:endParaRPr lang="en-US" sz="2600" dirty="0" smtClean="0">
              <a:latin typeface="+mn-lt"/>
            </a:endParaRPr>
          </a:p>
          <a:p>
            <a:pPr marL="742950" lvl="1" indent="-285750">
              <a:lnSpc>
                <a:spcPct val="120000"/>
              </a:lnSpc>
              <a:buFont typeface="Wingdings" charset="2"/>
              <a:buChar char="§"/>
            </a:pPr>
            <a:r>
              <a:rPr lang="tr-TR" sz="2600" dirty="0" smtClean="0">
                <a:latin typeface="+mn-lt"/>
              </a:rPr>
              <a:t>TBB Bünyesinde ilk</a:t>
            </a:r>
            <a:r>
              <a:rPr lang="en-US" sz="2600" dirty="0" smtClean="0">
                <a:latin typeface="+mn-lt"/>
              </a:rPr>
              <a:t>.</a:t>
            </a:r>
          </a:p>
          <a:p>
            <a:pPr marL="742950" lvl="1" indent="-285750">
              <a:lnSpc>
                <a:spcPct val="120000"/>
              </a:lnSpc>
              <a:buFont typeface="Wingdings" charset="2"/>
              <a:buChar char="§"/>
            </a:pPr>
            <a:r>
              <a:rPr lang="en-US" sz="2600" dirty="0" err="1" smtClean="0">
                <a:latin typeface="+mn-lt"/>
              </a:rPr>
              <a:t>Teknolojistler</a:t>
            </a:r>
            <a:r>
              <a:rPr lang="en-US" sz="2600" dirty="0">
                <a:latin typeface="+mn-lt"/>
              </a:rPr>
              <a:t> </a:t>
            </a:r>
            <a:r>
              <a:rPr lang="en-US" sz="2600" dirty="0" smtClean="0">
                <a:latin typeface="+mn-lt"/>
              </a:rPr>
              <a:t>(</a:t>
            </a:r>
            <a:r>
              <a:rPr lang="en-US" sz="2600" dirty="0" err="1" smtClean="0">
                <a:latin typeface="+mn-lt"/>
              </a:rPr>
              <a:t>Yazilim,Analiz,Test,Proje,Veri</a:t>
            </a:r>
            <a:r>
              <a:rPr lang="en-US" sz="2600" dirty="0" smtClean="0">
                <a:latin typeface="+mn-lt"/>
              </a:rPr>
              <a:t> </a:t>
            </a:r>
            <a:r>
              <a:rPr lang="en-US" sz="2600" dirty="0" err="1" smtClean="0">
                <a:latin typeface="+mn-lt"/>
              </a:rPr>
              <a:t>Tabanı</a:t>
            </a:r>
            <a:r>
              <a:rPr lang="en-US" sz="2600" dirty="0" smtClean="0">
                <a:latin typeface="+mn-lt"/>
              </a:rPr>
              <a:t>) </a:t>
            </a:r>
          </a:p>
          <a:p>
            <a:pPr marL="742950" lvl="1" indent="-285750">
              <a:lnSpc>
                <a:spcPct val="120000"/>
              </a:lnSpc>
              <a:buFont typeface="Wingdings" charset="2"/>
              <a:buChar char="§"/>
            </a:pPr>
            <a:r>
              <a:rPr lang="en-US" sz="2600" dirty="0" smtClean="0">
                <a:latin typeface="+mn-lt"/>
              </a:rPr>
              <a:t>Is </a:t>
            </a:r>
            <a:r>
              <a:rPr lang="en-US" sz="2600" dirty="0" err="1" smtClean="0">
                <a:latin typeface="+mn-lt"/>
              </a:rPr>
              <a:t>Birimlerinden</a:t>
            </a:r>
            <a:r>
              <a:rPr lang="en-US" sz="2600" dirty="0" smtClean="0">
                <a:latin typeface="+mn-lt"/>
              </a:rPr>
              <a:t> </a:t>
            </a:r>
            <a:r>
              <a:rPr lang="en-US" sz="2600" dirty="0" err="1" smtClean="0">
                <a:latin typeface="+mn-lt"/>
              </a:rPr>
              <a:t>Kullanicilar</a:t>
            </a:r>
            <a:r>
              <a:rPr lang="en-US" sz="2600" dirty="0" smtClean="0">
                <a:latin typeface="+mn-lt"/>
              </a:rPr>
              <a:t>/</a:t>
            </a:r>
            <a:r>
              <a:rPr lang="en-US" sz="2600" dirty="0" err="1" smtClean="0">
                <a:latin typeface="+mn-lt"/>
              </a:rPr>
              <a:t>Karar</a:t>
            </a:r>
            <a:r>
              <a:rPr lang="en-US" sz="2600" dirty="0" smtClean="0">
                <a:latin typeface="+mn-lt"/>
              </a:rPr>
              <a:t> </a:t>
            </a:r>
            <a:r>
              <a:rPr lang="en-US" sz="2600" dirty="0" err="1" smtClean="0">
                <a:latin typeface="+mn-lt"/>
              </a:rPr>
              <a:t>Vericiler</a:t>
            </a:r>
            <a:r>
              <a:rPr lang="en-US" sz="2600" dirty="0" smtClean="0">
                <a:latin typeface="+mn-lt"/>
              </a:rPr>
              <a:t>.</a:t>
            </a:r>
            <a:endParaRPr lang="en-US" sz="2600" dirty="0">
              <a:latin typeface="+mn-lt"/>
            </a:endParaRPr>
          </a:p>
          <a:p>
            <a:pPr marL="285750" indent="-285750">
              <a:lnSpc>
                <a:spcPct val="120000"/>
              </a:lnSpc>
              <a:buFont typeface="Wingdings" charset="2"/>
              <a:buChar char="§"/>
            </a:pPr>
            <a:r>
              <a:rPr lang="tr-TR" sz="2600" dirty="0" smtClean="0">
                <a:latin typeface="+mn-lt"/>
              </a:rPr>
              <a:t> </a:t>
            </a:r>
            <a:r>
              <a:rPr lang="tr-TR" sz="2600" b="1" dirty="0" smtClean="0">
                <a:latin typeface="+mn-lt"/>
              </a:rPr>
              <a:t>Yorumlayabilir, değiştirebilr, kendi işinizle yada yeni fikirler üretebilir</a:t>
            </a:r>
            <a:endParaRPr lang="en-US" sz="2600" dirty="0" smtClean="0">
              <a:latin typeface="+mn-lt"/>
            </a:endParaRPr>
          </a:p>
          <a:p>
            <a:pPr marL="742950" lvl="1" indent="-285750">
              <a:lnSpc>
                <a:spcPct val="120000"/>
              </a:lnSpc>
              <a:buFont typeface="Wingdings" charset="2"/>
              <a:buChar char="§"/>
            </a:pPr>
            <a:r>
              <a:rPr lang="en-US" sz="2600" dirty="0" smtClean="0">
                <a:latin typeface="+mn-lt"/>
              </a:rPr>
              <a:t>“</a:t>
            </a:r>
            <a:r>
              <a:rPr lang="en-US" sz="2600" dirty="0" err="1" smtClean="0">
                <a:latin typeface="+mn-lt"/>
              </a:rPr>
              <a:t>Kisisel</a:t>
            </a:r>
            <a:r>
              <a:rPr lang="en-US" sz="2600" dirty="0" smtClean="0">
                <a:latin typeface="+mn-lt"/>
              </a:rPr>
              <a:t> </a:t>
            </a:r>
            <a:r>
              <a:rPr lang="en-US" sz="2600" dirty="0" err="1" smtClean="0">
                <a:latin typeface="+mn-lt"/>
              </a:rPr>
              <a:t>Gelisim</a:t>
            </a:r>
            <a:r>
              <a:rPr lang="en-US" sz="2600" dirty="0" smtClean="0">
                <a:latin typeface="+mn-lt"/>
              </a:rPr>
              <a:t>” </a:t>
            </a:r>
            <a:r>
              <a:rPr lang="en-US" sz="2600" dirty="0" err="1" smtClean="0">
                <a:latin typeface="+mn-lt"/>
              </a:rPr>
              <a:t>tadinda</a:t>
            </a:r>
            <a:r>
              <a:rPr lang="en-US" sz="2600" dirty="0" smtClean="0">
                <a:latin typeface="+mn-lt"/>
              </a:rPr>
              <a:t>: “</a:t>
            </a:r>
            <a:r>
              <a:rPr lang="en-US" sz="2600" dirty="0" err="1" smtClean="0">
                <a:latin typeface="+mn-lt"/>
              </a:rPr>
              <a:t>Bakis</a:t>
            </a:r>
            <a:r>
              <a:rPr lang="en-US" sz="2600" dirty="0" smtClean="0">
                <a:latin typeface="+mn-lt"/>
              </a:rPr>
              <a:t> </a:t>
            </a:r>
            <a:r>
              <a:rPr lang="en-US" sz="2600" dirty="0" err="1" smtClean="0">
                <a:latin typeface="+mn-lt"/>
              </a:rPr>
              <a:t>Acisi</a:t>
            </a:r>
            <a:r>
              <a:rPr lang="en-US" sz="2600" dirty="0" smtClean="0">
                <a:latin typeface="+mn-lt"/>
              </a:rPr>
              <a:t> </a:t>
            </a:r>
            <a:r>
              <a:rPr lang="en-US" sz="2600" dirty="0" err="1" smtClean="0">
                <a:latin typeface="+mn-lt"/>
              </a:rPr>
              <a:t>Degisikligi</a:t>
            </a:r>
            <a:r>
              <a:rPr lang="en-US" sz="2600" dirty="0" smtClean="0">
                <a:latin typeface="+mn-lt"/>
              </a:rPr>
              <a:t>” </a:t>
            </a:r>
          </a:p>
          <a:p>
            <a:pPr marL="742950" lvl="1" indent="-285750">
              <a:lnSpc>
                <a:spcPct val="120000"/>
              </a:lnSpc>
              <a:buFont typeface="Wingdings" charset="2"/>
              <a:buChar char="§"/>
            </a:pPr>
            <a:r>
              <a:rPr lang="en-US" sz="2600" dirty="0" err="1" smtClean="0">
                <a:latin typeface="+mn-lt"/>
              </a:rPr>
              <a:t>Interaktif</a:t>
            </a:r>
            <a:r>
              <a:rPr lang="en-US" sz="2600" dirty="0" smtClean="0">
                <a:latin typeface="+mn-lt"/>
              </a:rPr>
              <a:t> ve </a:t>
            </a:r>
            <a:r>
              <a:rPr lang="en-US" sz="2600" dirty="0" err="1" smtClean="0">
                <a:latin typeface="+mn-lt"/>
              </a:rPr>
              <a:t>deneyim</a:t>
            </a:r>
            <a:r>
              <a:rPr lang="en-US" sz="2600" dirty="0" smtClean="0">
                <a:latin typeface="+mn-lt"/>
              </a:rPr>
              <a:t> </a:t>
            </a:r>
            <a:r>
              <a:rPr lang="en-US" sz="2600" dirty="0" err="1" smtClean="0">
                <a:latin typeface="+mn-lt"/>
              </a:rPr>
              <a:t>paylasimina</a:t>
            </a:r>
            <a:r>
              <a:rPr lang="en-US" sz="2600" dirty="0" smtClean="0">
                <a:latin typeface="+mn-lt"/>
              </a:rPr>
              <a:t> </a:t>
            </a:r>
            <a:r>
              <a:rPr lang="en-US" sz="2600" dirty="0" err="1" smtClean="0">
                <a:latin typeface="+mn-lt"/>
              </a:rPr>
              <a:t>dayali</a:t>
            </a:r>
            <a:r>
              <a:rPr lang="en-US" sz="2600" dirty="0" smtClean="0">
                <a:latin typeface="+mn-lt"/>
              </a:rPr>
              <a:t>.</a:t>
            </a:r>
          </a:p>
          <a:p>
            <a:pPr marL="800100" lvl="1" indent="-342900">
              <a:lnSpc>
                <a:spcPct val="120000"/>
              </a:lnSpc>
              <a:buFont typeface="Wingdings" charset="2"/>
              <a:buChar char="§"/>
            </a:pPr>
            <a:r>
              <a:rPr lang="en-US" sz="2600" dirty="0" err="1" smtClean="0">
                <a:latin typeface="+mn-lt"/>
              </a:rPr>
              <a:t>Devam</a:t>
            </a:r>
            <a:r>
              <a:rPr lang="tr-TR" sz="2600" dirty="0" smtClean="0">
                <a:latin typeface="+mn-lt"/>
              </a:rPr>
              <a:t>ı gelicek...</a:t>
            </a:r>
            <a:endParaRPr lang="en-US" sz="2600" dirty="0" smtClean="0">
              <a:latin typeface="+mn-lt"/>
            </a:endParaRPr>
          </a:p>
          <a:p>
            <a:pPr marL="342900" indent="-342900">
              <a:lnSpc>
                <a:spcPct val="120000"/>
              </a:lnSpc>
              <a:buFont typeface="Wingdings" charset="2"/>
              <a:buChar char="§"/>
            </a:pPr>
            <a:endParaRPr lang="en-US" sz="2600" dirty="0" smtClean="0">
              <a:latin typeface="+mn-lt"/>
            </a:endParaRPr>
          </a:p>
        </p:txBody>
      </p:sp>
    </p:spTree>
    <p:extLst>
      <p:ext uri="{BB962C8B-B14F-4D97-AF65-F5344CB8AC3E}">
        <p14:creationId xmlns:p14="http://schemas.microsoft.com/office/powerpoint/2010/main" val="2973049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6</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smtClean="0">
                <a:solidFill>
                  <a:srgbClr val="898989"/>
                </a:solidFill>
                <a:latin typeface="Calibri" charset="0"/>
              </a:rPr>
              <a:t>Bitcoin (Digital Para)Temel </a:t>
            </a:r>
            <a:r>
              <a:rPr lang="tr-TR" dirty="0">
                <a:solidFill>
                  <a:srgbClr val="898989"/>
                </a:solidFill>
                <a:latin typeface="Calibri" charset="0"/>
              </a:rPr>
              <a:t>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Ajanda:  1 gün ve 6 seans</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Table 1"/>
          <p:cNvGraphicFramePr>
            <a:graphicFrameLocks noGrp="1"/>
          </p:cNvGraphicFramePr>
          <p:nvPr>
            <p:extLst>
              <p:ext uri="{D42A27DB-BD31-4B8C-83A1-F6EECF244321}">
                <p14:modId xmlns:p14="http://schemas.microsoft.com/office/powerpoint/2010/main" val="3593603910"/>
              </p:ext>
            </p:extLst>
          </p:nvPr>
        </p:nvGraphicFramePr>
        <p:xfrm>
          <a:off x="1979712" y="1772816"/>
          <a:ext cx="6048672" cy="4032448"/>
        </p:xfrm>
        <a:graphic>
          <a:graphicData uri="http://schemas.openxmlformats.org/drawingml/2006/table">
            <a:tbl>
              <a:tblPr firstRow="1" firstCol="1" bandRow="1">
                <a:tableStyleId>{69C7853C-536D-4A76-A0AE-DD22124D55A5}</a:tableStyleId>
              </a:tblPr>
              <a:tblGrid>
                <a:gridCol w="1273404"/>
                <a:gridCol w="4775268"/>
              </a:tblGrid>
              <a:tr h="493911">
                <a:tc gridSpan="2">
                  <a:txBody>
                    <a:bodyPr/>
                    <a:lstStyle/>
                    <a:p>
                      <a:pPr algn="ctr"/>
                      <a:r>
                        <a:rPr lang="en-US" sz="2200" u="sng" spc="0" dirty="0" err="1" smtClean="0"/>
                        <a:t>Genel</a:t>
                      </a:r>
                      <a:r>
                        <a:rPr lang="en-US" sz="2200" u="sng" spc="0" baseline="0" dirty="0" smtClean="0"/>
                        <a:t> </a:t>
                      </a:r>
                      <a:r>
                        <a:rPr lang="en-US" sz="2200" u="sng" spc="0" baseline="0" dirty="0" err="1" smtClean="0"/>
                        <a:t>Giriş</a:t>
                      </a:r>
                      <a:endParaRPr lang="en-US" sz="2200" b="1" u="sng" spc="0" dirty="0">
                        <a:solidFill>
                          <a:schemeClr val="tx1"/>
                        </a:solidFill>
                        <a:latin typeface="Arial"/>
                        <a:cs typeface="Arial"/>
                      </a:endParaRPr>
                    </a:p>
                  </a:txBody>
                  <a:tcPr/>
                </a:tc>
                <a:tc hMerge="1">
                  <a:txBody>
                    <a:bodyPr/>
                    <a:lstStyle/>
                    <a:p>
                      <a:endParaRPr lang="en-US"/>
                    </a:p>
                  </a:txBody>
                  <a:tcPr/>
                </a:tc>
              </a:tr>
              <a:tr h="535179">
                <a:tc>
                  <a:txBody>
                    <a:bodyPr/>
                    <a:lstStyle/>
                    <a:p>
                      <a:pPr marL="0" indent="0" algn="l">
                        <a:lnSpc>
                          <a:spcPct val="110000"/>
                        </a:lnSpc>
                        <a:buFont typeface="+mj-ea"/>
                        <a:buNone/>
                      </a:pPr>
                      <a:r>
                        <a:rPr lang="en-US" sz="1100" spc="0" dirty="0" smtClean="0"/>
                        <a:t>09.30-10.20</a:t>
                      </a:r>
                      <a:endParaRPr lang="en-US" sz="1100" spc="0" dirty="0" smtClean="0">
                        <a:solidFill>
                          <a:schemeClr val="tx1"/>
                        </a:solidFill>
                        <a:latin typeface="Arial"/>
                        <a:cs typeface="Arial"/>
                      </a:endParaRPr>
                    </a:p>
                  </a:txBody>
                  <a:tcPr/>
                </a:tc>
                <a:tc>
                  <a:txBody>
                    <a:bodyPr/>
                    <a:lstStyle/>
                    <a:p>
                      <a:pPr algn="l">
                        <a:lnSpc>
                          <a:spcPct val="110000"/>
                        </a:lnSpc>
                      </a:pPr>
                      <a:r>
                        <a:rPr lang="tr-TR" sz="2000" spc="0" baseline="0" dirty="0" smtClean="0">
                          <a:solidFill>
                            <a:schemeClr val="dk1"/>
                          </a:solidFill>
                          <a:latin typeface="+mn-lt"/>
                          <a:cs typeface="+mn-cs"/>
                        </a:rPr>
                        <a:t>Paranın Tanım ve Özellikleri</a:t>
                      </a:r>
                      <a:endParaRPr lang="en-US" sz="2000" spc="0" dirty="0">
                        <a:solidFill>
                          <a:schemeClr val="tx1"/>
                        </a:solidFill>
                        <a:latin typeface="Arial"/>
                        <a:cs typeface="Arial"/>
                      </a:endParaRPr>
                    </a:p>
                  </a:txBody>
                  <a:tcPr/>
                </a:tc>
              </a:tr>
              <a:tr h="531904">
                <a:tc>
                  <a:txBody>
                    <a:bodyPr/>
                    <a:lstStyle/>
                    <a:p>
                      <a:pPr marL="0" indent="0" algn="l">
                        <a:lnSpc>
                          <a:spcPct val="110000"/>
                        </a:lnSpc>
                        <a:buFont typeface="+mj-ea"/>
                        <a:buNone/>
                      </a:pPr>
                      <a:r>
                        <a:rPr lang="en-US" sz="1100" spc="0" dirty="0" smtClean="0"/>
                        <a:t>10.30-11.20</a:t>
                      </a:r>
                      <a:endParaRPr lang="en-US" sz="1100" spc="0" dirty="0">
                        <a:solidFill>
                          <a:schemeClr val="tx1"/>
                        </a:solidFill>
                        <a:latin typeface="Arial"/>
                        <a:cs typeface="Arial"/>
                      </a:endParaRPr>
                    </a:p>
                  </a:txBody>
                  <a:tcPr/>
                </a:tc>
                <a:tc>
                  <a:txBody>
                    <a:bodyPr/>
                    <a:lstStyle/>
                    <a:p>
                      <a:pPr algn="l">
                        <a:lnSpc>
                          <a:spcPct val="110000"/>
                        </a:lnSpc>
                      </a:pPr>
                      <a:r>
                        <a:rPr lang="tr-TR" sz="2000" spc="0" dirty="0" smtClean="0"/>
                        <a:t>Bitcoin Temel Özellikleri</a:t>
                      </a:r>
                      <a:endParaRPr lang="en-US" sz="2000" spc="0" dirty="0">
                        <a:solidFill>
                          <a:schemeClr val="tx1"/>
                        </a:solidFill>
                        <a:latin typeface="Arial"/>
                        <a:cs typeface="Arial"/>
                      </a:endParaRPr>
                    </a:p>
                  </a:txBody>
                  <a:tcPr/>
                </a:tc>
              </a:tr>
              <a:tr h="531904">
                <a:tc>
                  <a:txBody>
                    <a:bodyPr/>
                    <a:lstStyle/>
                    <a:p>
                      <a:pPr algn="l">
                        <a:lnSpc>
                          <a:spcPct val="110000"/>
                        </a:lnSpc>
                      </a:pPr>
                      <a:r>
                        <a:rPr lang="en-US" sz="1100" spc="0" dirty="0" smtClean="0"/>
                        <a:t>11.30-12.20</a:t>
                      </a:r>
                      <a:endParaRPr lang="en-US" sz="1100" spc="0" dirty="0">
                        <a:solidFill>
                          <a:schemeClr val="tx1"/>
                        </a:solidFill>
                        <a:latin typeface="Arial"/>
                        <a:cs typeface="Arial"/>
                      </a:endParaRPr>
                    </a:p>
                  </a:txBody>
                  <a:tcPr/>
                </a:tc>
                <a:tc>
                  <a:txBody>
                    <a:bodyPr/>
                    <a:lstStyle/>
                    <a:p>
                      <a:pPr algn="l">
                        <a:lnSpc>
                          <a:spcPct val="110000"/>
                        </a:lnSpc>
                      </a:pPr>
                      <a:r>
                        <a:rPr lang="tr-TR" sz="2000" spc="0" smtClean="0"/>
                        <a:t>Riskler ve Gelecek</a:t>
                      </a:r>
                      <a:endParaRPr lang="en-US" sz="2000" spc="0" dirty="0">
                        <a:solidFill>
                          <a:schemeClr val="tx1"/>
                        </a:solidFill>
                        <a:latin typeface="Arial"/>
                        <a:cs typeface="Arial"/>
                      </a:endParaRPr>
                    </a:p>
                  </a:txBody>
                  <a:tcPr/>
                </a:tc>
              </a:tr>
              <a:tr h="343838">
                <a:tc gridSpan="2">
                  <a:txBody>
                    <a:bodyPr/>
                    <a:lstStyle/>
                    <a:p>
                      <a:pPr marL="0" marR="0" indent="0" algn="ctr" defTabSz="914400" rtl="0" eaLnBrk="1" fontAlgn="auto" latinLnBrk="0" hangingPunct="1">
                        <a:lnSpc>
                          <a:spcPct val="110000"/>
                        </a:lnSpc>
                        <a:spcBef>
                          <a:spcPts val="0"/>
                        </a:spcBef>
                        <a:spcAft>
                          <a:spcPts val="0"/>
                        </a:spcAft>
                        <a:buClrTx/>
                        <a:buSzTx/>
                        <a:buFontTx/>
                        <a:buNone/>
                        <a:tabLst/>
                        <a:defRPr/>
                      </a:pPr>
                      <a:r>
                        <a:rPr lang="en-US" sz="1100" b="0" i="1" spc="0" dirty="0" err="1" smtClean="0">
                          <a:solidFill>
                            <a:schemeClr val="tx1"/>
                          </a:solidFill>
                          <a:latin typeface="Arial"/>
                          <a:cs typeface="Arial"/>
                        </a:rPr>
                        <a:t>Öğle</a:t>
                      </a:r>
                      <a:r>
                        <a:rPr lang="en-US" sz="1100" b="0" i="1" spc="0" dirty="0" smtClean="0">
                          <a:solidFill>
                            <a:schemeClr val="tx1"/>
                          </a:solidFill>
                          <a:latin typeface="Arial"/>
                          <a:cs typeface="Arial"/>
                        </a:rPr>
                        <a:t> </a:t>
                      </a:r>
                      <a:r>
                        <a:rPr lang="en-US" sz="1100" b="0" i="1" spc="0" dirty="0" err="1" smtClean="0">
                          <a:solidFill>
                            <a:schemeClr val="tx1"/>
                          </a:solidFill>
                          <a:latin typeface="Arial"/>
                          <a:cs typeface="Arial"/>
                        </a:rPr>
                        <a:t>Arası</a:t>
                      </a:r>
                      <a:endParaRPr lang="en-US" sz="1100" b="0" i="1" spc="0" dirty="0" smtClean="0">
                        <a:solidFill>
                          <a:schemeClr val="tx1"/>
                        </a:solidFill>
                        <a:latin typeface="Arial"/>
                        <a:cs typeface="Arial"/>
                      </a:endParaRPr>
                    </a:p>
                  </a:txBody>
                  <a:tcPr/>
                </a:tc>
                <a:tc hMerge="1">
                  <a:txBody>
                    <a:bodyPr/>
                    <a:lstStyle/>
                    <a:p>
                      <a:endParaRPr lang="en-US"/>
                    </a:p>
                  </a:txBody>
                  <a:tcPr/>
                </a:tc>
              </a:tr>
              <a:tr h="531904">
                <a:tc>
                  <a:txBody>
                    <a:bodyPr/>
                    <a:lstStyle/>
                    <a:p>
                      <a:pPr algn="l">
                        <a:lnSpc>
                          <a:spcPct val="110000"/>
                        </a:lnSpc>
                      </a:pPr>
                      <a:r>
                        <a:rPr lang="en-US" sz="1100" spc="0" dirty="0" smtClean="0"/>
                        <a:t>13.30-14.20</a:t>
                      </a:r>
                      <a:endParaRPr lang="en-US" sz="1100" spc="0" dirty="0">
                        <a:solidFill>
                          <a:schemeClr val="tx1"/>
                        </a:solidFill>
                        <a:latin typeface="Arial"/>
                        <a:cs typeface="Arial"/>
                      </a:endParaRPr>
                    </a:p>
                  </a:txBody>
                  <a:tcPr/>
                </a:tc>
                <a:tc>
                  <a:txBody>
                    <a:bodyPr/>
                    <a:lstStyle/>
                    <a:p>
                      <a:pPr algn="l">
                        <a:lnSpc>
                          <a:spcPct val="110000"/>
                        </a:lnSpc>
                      </a:pPr>
                      <a:r>
                        <a:rPr lang="tr-TR" sz="2000" spc="0" dirty="0" smtClean="0"/>
                        <a:t>Blockchain’e giriş</a:t>
                      </a:r>
                      <a:endParaRPr lang="en-US" sz="2000" spc="0" dirty="0">
                        <a:solidFill>
                          <a:schemeClr val="tx1"/>
                        </a:solidFill>
                        <a:latin typeface="Arial"/>
                        <a:cs typeface="Arial"/>
                      </a:endParaRPr>
                    </a:p>
                  </a:txBody>
                  <a:tcPr/>
                </a:tc>
              </a:tr>
              <a:tr h="531904">
                <a:tc>
                  <a:txBody>
                    <a:bodyPr/>
                    <a:lstStyle/>
                    <a:p>
                      <a:pPr algn="l">
                        <a:lnSpc>
                          <a:spcPct val="110000"/>
                        </a:lnSpc>
                      </a:pPr>
                      <a:r>
                        <a:rPr lang="en-US" sz="1100" spc="0" dirty="0" smtClean="0"/>
                        <a:t>14.30-15.20</a:t>
                      </a:r>
                      <a:endParaRPr lang="en-US" sz="1100" spc="0" dirty="0">
                        <a:solidFill>
                          <a:schemeClr val="tx1"/>
                        </a:solidFill>
                        <a:latin typeface="Arial"/>
                        <a:cs typeface="Arial"/>
                      </a:endParaRPr>
                    </a:p>
                  </a:txBody>
                  <a:tcPr/>
                </a:tc>
                <a:tc>
                  <a:txBody>
                    <a:bodyPr/>
                    <a:lstStyle/>
                    <a:p>
                      <a:pPr algn="l">
                        <a:lnSpc>
                          <a:spcPct val="110000"/>
                        </a:lnSpc>
                      </a:pPr>
                      <a:r>
                        <a:rPr lang="tr-TR" sz="2000" spc="0" dirty="0" smtClean="0"/>
                        <a:t>Blockchain consensus</a:t>
                      </a:r>
                      <a:endParaRPr lang="en-US" sz="2000" spc="0" dirty="0">
                        <a:solidFill>
                          <a:schemeClr val="tx1"/>
                        </a:solidFill>
                        <a:latin typeface="Arial"/>
                        <a:cs typeface="Arial"/>
                      </a:endParaRPr>
                    </a:p>
                  </a:txBody>
                  <a:tcPr/>
                </a:tc>
              </a:tr>
              <a:tr h="531904">
                <a:tc>
                  <a:txBody>
                    <a:bodyPr/>
                    <a:lstStyle/>
                    <a:p>
                      <a:pPr algn="l">
                        <a:lnSpc>
                          <a:spcPct val="110000"/>
                        </a:lnSpc>
                      </a:pPr>
                      <a:r>
                        <a:rPr lang="en-US" sz="1100" spc="0" dirty="0" smtClean="0"/>
                        <a:t>15.30-16.20</a:t>
                      </a:r>
                      <a:endParaRPr lang="en-US" sz="1100" spc="0" dirty="0">
                        <a:solidFill>
                          <a:schemeClr val="tx1"/>
                        </a:solidFill>
                        <a:latin typeface="Arial"/>
                        <a:cs typeface="Arial"/>
                      </a:endParaRPr>
                    </a:p>
                  </a:txBody>
                  <a:tcPr/>
                </a:tc>
                <a:tc>
                  <a:txBody>
                    <a:bodyPr/>
                    <a:lstStyle/>
                    <a:p>
                      <a:pPr algn="l">
                        <a:lnSpc>
                          <a:spcPct val="110000"/>
                        </a:lnSpc>
                      </a:pPr>
                      <a:r>
                        <a:rPr lang="tr-TR" sz="2000" spc="0" dirty="0" smtClean="0"/>
                        <a:t>Bitcoin</a:t>
                      </a:r>
                      <a:r>
                        <a:rPr lang="tr-TR" sz="2000" spc="0" baseline="0" dirty="0" smtClean="0"/>
                        <a:t> </a:t>
                      </a:r>
                      <a:r>
                        <a:rPr lang="tr-TR" sz="2000" spc="0" dirty="0" smtClean="0"/>
                        <a:t>Mining</a:t>
                      </a:r>
                      <a:endParaRPr lang="en-US" sz="2000" spc="0" dirty="0">
                        <a:solidFill>
                          <a:schemeClr val="tx1"/>
                        </a:solidFill>
                        <a:latin typeface="Arial"/>
                        <a:cs typeface="Arial"/>
                      </a:endParaRPr>
                    </a:p>
                  </a:txBody>
                  <a:tcPr/>
                </a:tc>
              </a:tr>
            </a:tbl>
          </a:graphicData>
        </a:graphic>
      </p:graphicFrame>
    </p:spTree>
    <p:extLst>
      <p:ext uri="{BB962C8B-B14F-4D97-AF65-F5344CB8AC3E}">
        <p14:creationId xmlns:p14="http://schemas.microsoft.com/office/powerpoint/2010/main" val="20880090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7</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Para</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1331640" y="1424832"/>
            <a:ext cx="7128792" cy="4524315"/>
          </a:xfrm>
          <a:prstGeom prst="rect">
            <a:avLst/>
          </a:prstGeom>
          <a:noFill/>
        </p:spPr>
        <p:txBody>
          <a:bodyPr wrap="square" rtlCol="0">
            <a:spAutoFit/>
          </a:bodyPr>
          <a:lstStyle/>
          <a:p>
            <a:pPr marL="285750" indent="-285750">
              <a:lnSpc>
                <a:spcPct val="120000"/>
              </a:lnSpc>
              <a:buFont typeface="Wingdings" charset="2"/>
              <a:buChar char="§"/>
            </a:pPr>
            <a:r>
              <a:rPr lang="tr-TR" sz="6000" b="1" dirty="0" smtClean="0">
                <a:latin typeface="+mn-lt"/>
              </a:rPr>
              <a:t>Para Nedir ?</a:t>
            </a:r>
          </a:p>
          <a:p>
            <a:pPr marL="285750" indent="-285750">
              <a:lnSpc>
                <a:spcPct val="120000"/>
              </a:lnSpc>
              <a:buFont typeface="Wingdings" charset="2"/>
              <a:buChar char="§"/>
            </a:pPr>
            <a:r>
              <a:rPr lang="tr-TR" sz="6000" b="1" dirty="0" smtClean="0">
                <a:latin typeface="+mn-lt"/>
              </a:rPr>
              <a:t>Ne ifade eder?</a:t>
            </a:r>
          </a:p>
          <a:p>
            <a:pPr marL="285750" indent="-285750">
              <a:lnSpc>
                <a:spcPct val="120000"/>
              </a:lnSpc>
              <a:buFont typeface="Wingdings" charset="2"/>
              <a:buChar char="§"/>
            </a:pPr>
            <a:r>
              <a:rPr lang="tr-TR" sz="6000" b="1" dirty="0" smtClean="0">
                <a:latin typeface="+mn-lt"/>
              </a:rPr>
              <a:t>Kaç Özelliği Vardır</a:t>
            </a:r>
            <a:endParaRPr lang="en-US" sz="6000" dirty="0" smtClean="0">
              <a:latin typeface="+mn-lt"/>
            </a:endParaRPr>
          </a:p>
          <a:p>
            <a:pPr marL="342900" indent="-342900">
              <a:lnSpc>
                <a:spcPct val="120000"/>
              </a:lnSpc>
              <a:buFont typeface="Wingdings" charset="2"/>
              <a:buChar char="§"/>
            </a:pPr>
            <a:endParaRPr lang="en-US" sz="6000" dirty="0" smtClean="0">
              <a:latin typeface="+mn-lt"/>
            </a:endParaRPr>
          </a:p>
        </p:txBody>
      </p:sp>
    </p:spTree>
    <p:extLst>
      <p:ext uri="{BB962C8B-B14F-4D97-AF65-F5344CB8AC3E}">
        <p14:creationId xmlns:p14="http://schemas.microsoft.com/office/powerpoint/2010/main" val="940631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8</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Para</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1331640" y="1424832"/>
            <a:ext cx="7128792" cy="4228850"/>
          </a:xfrm>
          <a:prstGeom prst="rect">
            <a:avLst/>
          </a:prstGeom>
          <a:noFill/>
        </p:spPr>
        <p:txBody>
          <a:bodyPr wrap="square" rtlCol="0">
            <a:spAutoFit/>
          </a:bodyPr>
          <a:lstStyle/>
          <a:p>
            <a:pPr marL="285750" indent="-285750">
              <a:lnSpc>
                <a:spcPct val="120000"/>
              </a:lnSpc>
              <a:buFont typeface="Wingdings" charset="2"/>
              <a:buChar char="§"/>
            </a:pPr>
            <a:r>
              <a:rPr lang="tr-TR" sz="3200" b="1" dirty="0" smtClean="0">
                <a:latin typeface="+mn-lt"/>
              </a:rPr>
              <a:t>Para Tanımı Nedir?</a:t>
            </a:r>
          </a:p>
          <a:p>
            <a:pPr marL="285750" indent="-285750">
              <a:lnSpc>
                <a:spcPct val="120000"/>
              </a:lnSpc>
              <a:buFont typeface="Wingdings" charset="2"/>
              <a:buChar char="§"/>
            </a:pPr>
            <a:r>
              <a:rPr lang="tr-TR" sz="3200" b="1" dirty="0" smtClean="0">
                <a:latin typeface="+mn-lt"/>
              </a:rPr>
              <a:t>Paranın Fonksiyonları</a:t>
            </a:r>
            <a:endParaRPr lang="tr-TR" sz="3200" dirty="0" smtClean="0">
              <a:latin typeface="+mn-lt"/>
            </a:endParaRPr>
          </a:p>
          <a:p>
            <a:pPr marL="342900" indent="-342900">
              <a:lnSpc>
                <a:spcPct val="120000"/>
              </a:lnSpc>
              <a:buFont typeface="Wingdings" charset="2"/>
              <a:buChar char="§"/>
            </a:pPr>
            <a:r>
              <a:rPr lang="tr-TR" sz="3200" b="1" dirty="0">
                <a:latin typeface="+mn-lt"/>
              </a:rPr>
              <a:t>Paraya Niçin Gereksinim Duyulmuştur?</a:t>
            </a:r>
          </a:p>
          <a:p>
            <a:pPr marL="342900" indent="-342900">
              <a:lnSpc>
                <a:spcPct val="120000"/>
              </a:lnSpc>
              <a:buFont typeface="Wingdings" charset="2"/>
              <a:buChar char="§"/>
            </a:pPr>
            <a:r>
              <a:rPr lang="tr-TR" sz="3200" b="1" dirty="0">
                <a:latin typeface="+mn-lt"/>
              </a:rPr>
              <a:t>Paranın Sağladığı olanaklar Nelerdir?</a:t>
            </a:r>
          </a:p>
          <a:p>
            <a:pPr marL="342900" indent="-342900">
              <a:lnSpc>
                <a:spcPct val="120000"/>
              </a:lnSpc>
              <a:buFont typeface="Wingdings" charset="2"/>
              <a:buChar char="§"/>
            </a:pPr>
            <a:r>
              <a:rPr lang="tr-TR" sz="3200" b="1" dirty="0">
                <a:latin typeface="+mn-lt"/>
              </a:rPr>
              <a:t>Para Ne gibi Sorunlar Ortaya Çıkarmıştır?</a:t>
            </a:r>
          </a:p>
          <a:p>
            <a:pPr marL="342900" indent="-342900">
              <a:lnSpc>
                <a:spcPct val="120000"/>
              </a:lnSpc>
              <a:buFont typeface="Wingdings" charset="2"/>
              <a:buChar char="§"/>
            </a:pPr>
            <a:r>
              <a:rPr lang="tr-TR" sz="3200" b="1" dirty="0">
                <a:latin typeface="+mn-lt"/>
              </a:rPr>
              <a:t>Altın ve Para </a:t>
            </a:r>
            <a:r>
              <a:rPr lang="tr-TR" sz="3200" b="1" dirty="0" smtClean="0">
                <a:latin typeface="+mn-lt"/>
              </a:rPr>
              <a:t>İlişkisi Nasıldır?</a:t>
            </a:r>
            <a:endParaRPr lang="en-US" sz="3200" b="1" dirty="0">
              <a:latin typeface="+mn-lt"/>
            </a:endParaRPr>
          </a:p>
        </p:txBody>
      </p:sp>
    </p:spTree>
    <p:extLst>
      <p:ext uri="{BB962C8B-B14F-4D97-AF65-F5344CB8AC3E}">
        <p14:creationId xmlns:p14="http://schemas.microsoft.com/office/powerpoint/2010/main" val="2683410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9</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Paranın Tanımı</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1475656" y="1844824"/>
            <a:ext cx="7200800" cy="2751522"/>
          </a:xfrm>
          <a:prstGeom prst="rect">
            <a:avLst/>
          </a:prstGeom>
          <a:noFill/>
        </p:spPr>
        <p:txBody>
          <a:bodyPr wrap="square" rtlCol="0">
            <a:spAutoFit/>
          </a:bodyPr>
          <a:lstStyle/>
          <a:p>
            <a:pPr>
              <a:lnSpc>
                <a:spcPct val="120000"/>
              </a:lnSpc>
            </a:pPr>
            <a:r>
              <a:rPr lang="tr-TR" sz="4800" b="1" dirty="0" smtClean="0">
                <a:latin typeface="+mn-lt"/>
              </a:rPr>
              <a:t>Bir toplumun </a:t>
            </a:r>
            <a:r>
              <a:rPr lang="tr-TR" sz="4800" b="1" i="1" u="sng" dirty="0" smtClean="0">
                <a:solidFill>
                  <a:srgbClr val="FF0000"/>
                </a:solidFill>
                <a:latin typeface="+mn-lt"/>
              </a:rPr>
              <a:t>değer ölçüsü </a:t>
            </a:r>
            <a:r>
              <a:rPr lang="tr-TR" sz="4800" b="1" dirty="0" smtClean="0">
                <a:latin typeface="+mn-lt"/>
              </a:rPr>
              <a:t>ve </a:t>
            </a:r>
            <a:r>
              <a:rPr lang="tr-TR" sz="4800" b="1" i="1" u="sng" dirty="0" smtClean="0">
                <a:solidFill>
                  <a:srgbClr val="FF0000"/>
                </a:solidFill>
                <a:latin typeface="+mn-lt"/>
              </a:rPr>
              <a:t>değişim aracı </a:t>
            </a:r>
            <a:r>
              <a:rPr lang="tr-TR" sz="4800" b="1" dirty="0" smtClean="0">
                <a:latin typeface="+mn-lt"/>
              </a:rPr>
              <a:t>olarak kullanmayı kabul ettiği araç</a:t>
            </a:r>
            <a:endParaRPr lang="en-US" sz="4800" dirty="0" smtClean="0">
              <a:latin typeface="+mn-lt"/>
            </a:endParaRPr>
          </a:p>
        </p:txBody>
      </p:sp>
    </p:spTree>
    <p:extLst>
      <p:ext uri="{BB962C8B-B14F-4D97-AF65-F5344CB8AC3E}">
        <p14:creationId xmlns:p14="http://schemas.microsoft.com/office/powerpoint/2010/main" val="832692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10</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Paranın Fonksiyonları</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1441159" y="1562597"/>
            <a:ext cx="7416824" cy="5041380"/>
          </a:xfrm>
          <a:prstGeom prst="rect">
            <a:avLst/>
          </a:prstGeom>
          <a:noFill/>
        </p:spPr>
        <p:txBody>
          <a:bodyPr wrap="square" rtlCol="0">
            <a:spAutoFit/>
          </a:bodyPr>
          <a:lstStyle/>
          <a:p>
            <a:pPr>
              <a:lnSpc>
                <a:spcPct val="120000"/>
              </a:lnSpc>
            </a:pPr>
            <a:r>
              <a:rPr lang="tr-TR" sz="4800" b="1" dirty="0" smtClean="0">
                <a:latin typeface="+mn-lt"/>
              </a:rPr>
              <a:t>      </a:t>
            </a:r>
            <a:r>
              <a:rPr lang="tr-TR" sz="4800" b="1" u="sng" dirty="0" smtClean="0">
                <a:solidFill>
                  <a:srgbClr val="FF0000"/>
                </a:solidFill>
                <a:latin typeface="+mn-lt"/>
              </a:rPr>
              <a:t>PARA BİR ARAÇ</a:t>
            </a:r>
          </a:p>
          <a:p>
            <a:pPr>
              <a:lnSpc>
                <a:spcPct val="120000"/>
              </a:lnSpc>
            </a:pPr>
            <a:r>
              <a:rPr lang="tr-TR" sz="4400" b="1" dirty="0" smtClean="0">
                <a:latin typeface="+mn-lt"/>
              </a:rPr>
              <a:t>1- Değer Ölçüsü Olmak</a:t>
            </a:r>
          </a:p>
          <a:p>
            <a:pPr>
              <a:lnSpc>
                <a:spcPct val="120000"/>
              </a:lnSpc>
            </a:pPr>
            <a:r>
              <a:rPr lang="tr-TR" sz="4400" b="1" dirty="0" smtClean="0">
                <a:latin typeface="+mn-lt"/>
              </a:rPr>
              <a:t>2- Mübadele(Ödeme) Aracı olmak</a:t>
            </a:r>
          </a:p>
          <a:p>
            <a:pPr>
              <a:lnSpc>
                <a:spcPct val="120000"/>
              </a:lnSpc>
            </a:pPr>
            <a:r>
              <a:rPr lang="tr-TR" sz="4400" b="1" dirty="0" smtClean="0">
                <a:latin typeface="+mn-lt"/>
              </a:rPr>
              <a:t>3- Değer Biriktirme Aracı Olmak</a:t>
            </a:r>
            <a:endParaRPr lang="en-US" sz="4400" dirty="0" smtClean="0">
              <a:latin typeface="+mn-lt"/>
            </a:endParaRPr>
          </a:p>
        </p:txBody>
      </p:sp>
    </p:spTree>
    <p:extLst>
      <p:ext uri="{BB962C8B-B14F-4D97-AF65-F5344CB8AC3E}">
        <p14:creationId xmlns:p14="http://schemas.microsoft.com/office/powerpoint/2010/main" val="2074988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11</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Paraya Niçin Gereksinim Duyulmuştur?</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1441159" y="1562597"/>
            <a:ext cx="7416824" cy="3046988"/>
          </a:xfrm>
          <a:prstGeom prst="rect">
            <a:avLst/>
          </a:prstGeom>
          <a:noFill/>
        </p:spPr>
        <p:txBody>
          <a:bodyPr wrap="square" rtlCol="0">
            <a:spAutoFit/>
          </a:bodyPr>
          <a:lstStyle/>
          <a:p>
            <a:pPr>
              <a:lnSpc>
                <a:spcPct val="120000"/>
              </a:lnSpc>
            </a:pPr>
            <a:r>
              <a:rPr lang="tr-TR" sz="4000" b="1" dirty="0" smtClean="0">
                <a:latin typeface="+mn-lt"/>
              </a:rPr>
              <a:t>1- Ortak Öğe yaratmak için mi?</a:t>
            </a:r>
          </a:p>
          <a:p>
            <a:pPr>
              <a:lnSpc>
                <a:spcPct val="120000"/>
              </a:lnSpc>
            </a:pPr>
            <a:r>
              <a:rPr lang="tr-TR" sz="4000" b="1" dirty="0" smtClean="0">
                <a:latin typeface="+mn-lt"/>
              </a:rPr>
              <a:t>2-Emeği Ölçmek İçin mi?</a:t>
            </a:r>
          </a:p>
          <a:p>
            <a:pPr>
              <a:lnSpc>
                <a:spcPct val="120000"/>
              </a:lnSpc>
            </a:pPr>
            <a:r>
              <a:rPr lang="tr-TR" sz="4000" b="1" dirty="0" smtClean="0">
                <a:latin typeface="+mn-lt"/>
              </a:rPr>
              <a:t>3- Standart Ölçüm Olması İçin mi?</a:t>
            </a:r>
          </a:p>
          <a:p>
            <a:pPr>
              <a:lnSpc>
                <a:spcPct val="120000"/>
              </a:lnSpc>
            </a:pPr>
            <a:r>
              <a:rPr lang="tr-TR" sz="4000" b="1" dirty="0" smtClean="0">
                <a:latin typeface="+mn-lt"/>
              </a:rPr>
              <a:t>4- Ticareti Kolaylaştırmak İçin mi?</a:t>
            </a:r>
            <a:endParaRPr lang="en-US" sz="4000" dirty="0" smtClean="0">
              <a:latin typeface="+mn-lt"/>
            </a:endParaRPr>
          </a:p>
        </p:txBody>
      </p:sp>
    </p:spTree>
    <p:extLst>
      <p:ext uri="{BB962C8B-B14F-4D97-AF65-F5344CB8AC3E}">
        <p14:creationId xmlns:p14="http://schemas.microsoft.com/office/powerpoint/2010/main" val="2097167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12</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Paranın Önemi?</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1441159" y="1562597"/>
            <a:ext cx="7416824" cy="2308324"/>
          </a:xfrm>
          <a:prstGeom prst="rect">
            <a:avLst/>
          </a:prstGeom>
          <a:noFill/>
        </p:spPr>
        <p:txBody>
          <a:bodyPr wrap="square" rtlCol="0">
            <a:spAutoFit/>
          </a:bodyPr>
          <a:lstStyle/>
          <a:p>
            <a:pPr>
              <a:lnSpc>
                <a:spcPct val="120000"/>
              </a:lnSpc>
            </a:pPr>
            <a:r>
              <a:rPr lang="tr-TR" sz="4000" b="1" dirty="0" smtClean="0">
                <a:latin typeface="+mn-lt"/>
              </a:rPr>
              <a:t>1- Yaşamsal mı?</a:t>
            </a:r>
          </a:p>
          <a:p>
            <a:pPr>
              <a:lnSpc>
                <a:spcPct val="120000"/>
              </a:lnSpc>
            </a:pPr>
            <a:r>
              <a:rPr lang="tr-TR" sz="4000" b="1" dirty="0" smtClean="0">
                <a:latin typeface="+mn-lt"/>
              </a:rPr>
              <a:t>2- Bağımlılık mı?</a:t>
            </a:r>
          </a:p>
          <a:p>
            <a:pPr>
              <a:lnSpc>
                <a:spcPct val="120000"/>
              </a:lnSpc>
            </a:pPr>
            <a:r>
              <a:rPr lang="tr-TR" sz="4000" b="1" dirty="0" smtClean="0">
                <a:latin typeface="+mn-lt"/>
              </a:rPr>
              <a:t>3- Ekonomik Gelişim? </a:t>
            </a:r>
            <a:endParaRPr lang="en-US" sz="4000" dirty="0" smtClean="0">
              <a:latin typeface="+mn-lt"/>
            </a:endParaRPr>
          </a:p>
        </p:txBody>
      </p:sp>
    </p:spTree>
    <p:extLst>
      <p:ext uri="{BB962C8B-B14F-4D97-AF65-F5344CB8AC3E}">
        <p14:creationId xmlns:p14="http://schemas.microsoft.com/office/powerpoint/2010/main" val="3331101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13</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Paranın Sağladığı Olanaklar?</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1441159" y="1562597"/>
            <a:ext cx="7416824" cy="3785652"/>
          </a:xfrm>
          <a:prstGeom prst="rect">
            <a:avLst/>
          </a:prstGeom>
          <a:noFill/>
        </p:spPr>
        <p:txBody>
          <a:bodyPr wrap="square" rtlCol="0">
            <a:spAutoFit/>
          </a:bodyPr>
          <a:lstStyle/>
          <a:p>
            <a:pPr>
              <a:lnSpc>
                <a:spcPct val="120000"/>
              </a:lnSpc>
            </a:pPr>
            <a:r>
              <a:rPr lang="tr-TR" sz="4000" b="1" dirty="0" smtClean="0">
                <a:latin typeface="+mn-lt"/>
              </a:rPr>
              <a:t>1- Ödeme ok başka?</a:t>
            </a:r>
          </a:p>
          <a:p>
            <a:pPr>
              <a:lnSpc>
                <a:spcPct val="120000"/>
              </a:lnSpc>
            </a:pPr>
            <a:r>
              <a:rPr lang="tr-TR" sz="4000" b="1" dirty="0" smtClean="0">
                <a:latin typeface="+mn-lt"/>
              </a:rPr>
              <a:t>2- Biriktirme?</a:t>
            </a:r>
          </a:p>
          <a:p>
            <a:pPr>
              <a:lnSpc>
                <a:spcPct val="120000"/>
              </a:lnSpc>
            </a:pPr>
            <a:r>
              <a:rPr lang="tr-TR" sz="4000" b="1" dirty="0" smtClean="0">
                <a:latin typeface="+mn-lt"/>
              </a:rPr>
              <a:t>3- Zaman?</a:t>
            </a:r>
          </a:p>
          <a:p>
            <a:pPr>
              <a:lnSpc>
                <a:spcPct val="120000"/>
              </a:lnSpc>
            </a:pPr>
            <a:r>
              <a:rPr lang="tr-TR" sz="4000" b="1" dirty="0" smtClean="0">
                <a:latin typeface="+mn-lt"/>
              </a:rPr>
              <a:t>4- Mekan?</a:t>
            </a:r>
          </a:p>
          <a:p>
            <a:pPr>
              <a:lnSpc>
                <a:spcPct val="120000"/>
              </a:lnSpc>
            </a:pPr>
            <a:r>
              <a:rPr lang="tr-TR" sz="4000" b="1" dirty="0" smtClean="0">
                <a:latin typeface="+mn-lt"/>
              </a:rPr>
              <a:t>5- Özgürlük? </a:t>
            </a:r>
            <a:endParaRPr lang="en-US" sz="4000" dirty="0" smtClean="0">
              <a:latin typeface="+mn-lt"/>
            </a:endParaRPr>
          </a:p>
        </p:txBody>
      </p:sp>
    </p:spTree>
    <p:extLst>
      <p:ext uri="{BB962C8B-B14F-4D97-AF65-F5344CB8AC3E}">
        <p14:creationId xmlns:p14="http://schemas.microsoft.com/office/powerpoint/2010/main" val="3904165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14</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Para ve Sorun Ayrılmaz İkili?</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1441159" y="1562597"/>
            <a:ext cx="7416824" cy="1569660"/>
          </a:xfrm>
          <a:prstGeom prst="rect">
            <a:avLst/>
          </a:prstGeom>
          <a:noFill/>
        </p:spPr>
        <p:txBody>
          <a:bodyPr wrap="square" rtlCol="0">
            <a:spAutoFit/>
          </a:bodyPr>
          <a:lstStyle/>
          <a:p>
            <a:pPr>
              <a:lnSpc>
                <a:spcPct val="120000"/>
              </a:lnSpc>
            </a:pPr>
            <a:r>
              <a:rPr lang="tr-TR" sz="4000" b="1" dirty="0" smtClean="0">
                <a:latin typeface="+mn-lt"/>
              </a:rPr>
              <a:t>1- Değerini Korumak?</a:t>
            </a:r>
          </a:p>
          <a:p>
            <a:pPr>
              <a:lnSpc>
                <a:spcPct val="120000"/>
              </a:lnSpc>
            </a:pPr>
            <a:r>
              <a:rPr lang="tr-TR" sz="4000" b="1" dirty="0" smtClean="0">
                <a:latin typeface="+mn-lt"/>
              </a:rPr>
              <a:t>2-Talebi Yönetmek?</a:t>
            </a:r>
            <a:endParaRPr lang="en-US" sz="4000" dirty="0" smtClean="0">
              <a:latin typeface="+mn-lt"/>
            </a:endParaRPr>
          </a:p>
        </p:txBody>
      </p:sp>
    </p:spTree>
    <p:extLst>
      <p:ext uri="{BB962C8B-B14F-4D97-AF65-F5344CB8AC3E}">
        <p14:creationId xmlns:p14="http://schemas.microsoft.com/office/powerpoint/2010/main" val="525065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15</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Para ve Altın?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1441159" y="1562597"/>
            <a:ext cx="7416824" cy="3785652"/>
          </a:xfrm>
          <a:prstGeom prst="rect">
            <a:avLst/>
          </a:prstGeom>
          <a:noFill/>
        </p:spPr>
        <p:txBody>
          <a:bodyPr wrap="square" rtlCol="0">
            <a:spAutoFit/>
          </a:bodyPr>
          <a:lstStyle/>
          <a:p>
            <a:pPr>
              <a:lnSpc>
                <a:spcPct val="120000"/>
              </a:lnSpc>
            </a:pPr>
            <a:r>
              <a:rPr lang="tr-TR" sz="4000" b="1" dirty="0" smtClean="0">
                <a:latin typeface="+mn-lt"/>
              </a:rPr>
              <a:t>1- Basılı Paraya Nasıl Geçtik?</a:t>
            </a:r>
          </a:p>
          <a:p>
            <a:pPr>
              <a:lnSpc>
                <a:spcPct val="120000"/>
              </a:lnSpc>
            </a:pPr>
            <a:r>
              <a:rPr lang="tr-TR" sz="4000" b="1" dirty="0" smtClean="0"/>
              <a:t>2- </a:t>
            </a:r>
            <a:r>
              <a:rPr lang="tr-TR" sz="4000" b="1" dirty="0">
                <a:latin typeface="+mn-lt"/>
              </a:rPr>
              <a:t>Altın rezervleri ve Basılı </a:t>
            </a:r>
            <a:r>
              <a:rPr lang="tr-TR" sz="4000" b="1" dirty="0" smtClean="0">
                <a:latin typeface="+mn-lt"/>
              </a:rPr>
              <a:t>Para</a:t>
            </a:r>
          </a:p>
          <a:p>
            <a:pPr>
              <a:lnSpc>
                <a:spcPct val="120000"/>
              </a:lnSpc>
            </a:pPr>
            <a:r>
              <a:rPr lang="tr-TR" sz="4000" b="1" dirty="0" smtClean="0">
                <a:latin typeface="+mn-lt"/>
              </a:rPr>
              <a:t>3- Çek Senet vs</a:t>
            </a:r>
          </a:p>
          <a:p>
            <a:pPr>
              <a:lnSpc>
                <a:spcPct val="120000"/>
              </a:lnSpc>
            </a:pPr>
            <a:r>
              <a:rPr lang="tr-TR" sz="4000" b="1" dirty="0" smtClean="0">
                <a:latin typeface="+mn-lt"/>
              </a:rPr>
              <a:t>4- Para Basmak?</a:t>
            </a:r>
            <a:endParaRPr lang="tr-TR" sz="4000" b="1" dirty="0">
              <a:latin typeface="+mn-lt"/>
            </a:endParaRPr>
          </a:p>
          <a:p>
            <a:pPr>
              <a:lnSpc>
                <a:spcPct val="120000"/>
              </a:lnSpc>
            </a:pPr>
            <a:endParaRPr lang="en-US" sz="4000" dirty="0" smtClean="0">
              <a:latin typeface="+mn-lt"/>
            </a:endParaRPr>
          </a:p>
        </p:txBody>
      </p:sp>
    </p:spTree>
    <p:extLst>
      <p:ext uri="{BB962C8B-B14F-4D97-AF65-F5344CB8AC3E}">
        <p14:creationId xmlns:p14="http://schemas.microsoft.com/office/powerpoint/2010/main" val="234135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16</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Digital Para</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1362509" y="1844824"/>
            <a:ext cx="7313947" cy="4154984"/>
          </a:xfrm>
          <a:prstGeom prst="rect">
            <a:avLst/>
          </a:prstGeom>
          <a:noFill/>
        </p:spPr>
        <p:txBody>
          <a:bodyPr wrap="square" rtlCol="0">
            <a:spAutoFit/>
          </a:bodyPr>
          <a:lstStyle/>
          <a:p>
            <a:pPr marL="285750" indent="-285750">
              <a:lnSpc>
                <a:spcPct val="120000"/>
              </a:lnSpc>
              <a:buFont typeface="Wingdings" charset="2"/>
              <a:buChar char="§"/>
            </a:pPr>
            <a:r>
              <a:rPr lang="tr-TR" sz="4400" b="1" dirty="0" smtClean="0">
                <a:latin typeface="+mn-lt"/>
              </a:rPr>
              <a:t>Digital Para Nedir?</a:t>
            </a:r>
          </a:p>
          <a:p>
            <a:pPr marL="285750" indent="-285750">
              <a:lnSpc>
                <a:spcPct val="120000"/>
              </a:lnSpc>
              <a:buFont typeface="Wingdings" charset="2"/>
              <a:buChar char="§"/>
            </a:pPr>
            <a:r>
              <a:rPr lang="tr-TR" sz="4400" b="1" dirty="0" smtClean="0">
                <a:latin typeface="+mn-lt"/>
              </a:rPr>
              <a:t>TL Digital Para mıdır?</a:t>
            </a:r>
          </a:p>
          <a:p>
            <a:pPr marL="285750" indent="-285750">
              <a:lnSpc>
                <a:spcPct val="120000"/>
              </a:lnSpc>
              <a:buFont typeface="Wingdings" charset="2"/>
              <a:buChar char="§"/>
            </a:pPr>
            <a:r>
              <a:rPr lang="tr-TR" sz="4400" b="1" dirty="0" smtClean="0">
                <a:latin typeface="+mn-lt"/>
              </a:rPr>
              <a:t>Yeni bir kavram mıdır?</a:t>
            </a:r>
          </a:p>
          <a:p>
            <a:pPr marL="285750" indent="-285750">
              <a:lnSpc>
                <a:spcPct val="120000"/>
              </a:lnSpc>
              <a:buFont typeface="Wingdings" charset="2"/>
              <a:buChar char="§"/>
            </a:pPr>
            <a:r>
              <a:rPr lang="tr-TR" sz="4400" b="1" dirty="0" smtClean="0">
                <a:latin typeface="+mn-lt"/>
              </a:rPr>
              <a:t>Özellikleri Nedir?</a:t>
            </a:r>
            <a:endParaRPr lang="en-US" sz="4400" dirty="0" smtClean="0">
              <a:latin typeface="+mn-lt"/>
            </a:endParaRPr>
          </a:p>
          <a:p>
            <a:pPr marL="342900" indent="-342900">
              <a:lnSpc>
                <a:spcPct val="120000"/>
              </a:lnSpc>
              <a:buFont typeface="Wingdings" charset="2"/>
              <a:buChar char="§"/>
            </a:pPr>
            <a:endParaRPr lang="en-US" sz="4400" dirty="0" smtClean="0">
              <a:latin typeface="+mn-lt"/>
            </a:endParaRPr>
          </a:p>
        </p:txBody>
      </p:sp>
    </p:spTree>
    <p:extLst>
      <p:ext uri="{BB962C8B-B14F-4D97-AF65-F5344CB8AC3E}">
        <p14:creationId xmlns:p14="http://schemas.microsoft.com/office/powerpoint/2010/main" val="3522314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17</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Bitcoin Nedir?</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1301483" y="1700808"/>
            <a:ext cx="7704856" cy="4154984"/>
          </a:xfrm>
          <a:prstGeom prst="rect">
            <a:avLst/>
          </a:prstGeom>
          <a:noFill/>
        </p:spPr>
        <p:txBody>
          <a:bodyPr wrap="square" rtlCol="0">
            <a:spAutoFit/>
          </a:bodyPr>
          <a:lstStyle/>
          <a:p>
            <a:pPr algn="just"/>
            <a:r>
              <a:rPr lang="en-US" sz="2400" b="1" dirty="0"/>
              <a:t>Abstract. </a:t>
            </a:r>
            <a:r>
              <a:rPr lang="en-US" sz="2400" dirty="0"/>
              <a:t>A purely </a:t>
            </a:r>
            <a:r>
              <a:rPr lang="en-US" sz="2400" b="1" dirty="0">
                <a:solidFill>
                  <a:srgbClr val="FF0000"/>
                </a:solidFill>
              </a:rPr>
              <a:t>peer-to-peer</a:t>
            </a:r>
            <a:r>
              <a:rPr lang="en-US" sz="2400" dirty="0"/>
              <a:t> version of </a:t>
            </a:r>
            <a:r>
              <a:rPr lang="en-US" sz="2400" b="1" dirty="0">
                <a:solidFill>
                  <a:srgbClr val="FF0000"/>
                </a:solidFill>
              </a:rPr>
              <a:t>electronic cash</a:t>
            </a:r>
            <a:r>
              <a:rPr lang="en-US" sz="2400" dirty="0"/>
              <a:t> would allow </a:t>
            </a:r>
            <a:r>
              <a:rPr lang="en-US" sz="2400" b="1" dirty="0" smtClean="0">
                <a:solidFill>
                  <a:srgbClr val="FF0000"/>
                </a:solidFill>
              </a:rPr>
              <a:t>online</a:t>
            </a:r>
            <a:r>
              <a:rPr lang="tr-TR" sz="2400" b="1" dirty="0" smtClean="0">
                <a:solidFill>
                  <a:srgbClr val="FF0000"/>
                </a:solidFill>
              </a:rPr>
              <a:t> </a:t>
            </a:r>
            <a:r>
              <a:rPr lang="en-US" sz="2400" b="1" dirty="0" smtClean="0">
                <a:solidFill>
                  <a:srgbClr val="FF0000"/>
                </a:solidFill>
              </a:rPr>
              <a:t>payments </a:t>
            </a:r>
            <a:r>
              <a:rPr lang="en-US" sz="2400" dirty="0"/>
              <a:t>to be sent directly from one party to another without going through a</a:t>
            </a:r>
          </a:p>
          <a:p>
            <a:pPr algn="just"/>
            <a:r>
              <a:rPr lang="en-US" sz="2400" b="1" dirty="0">
                <a:solidFill>
                  <a:srgbClr val="FF0000"/>
                </a:solidFill>
              </a:rPr>
              <a:t>financial institution</a:t>
            </a:r>
            <a:r>
              <a:rPr lang="en-US" sz="2400" dirty="0"/>
              <a:t>. </a:t>
            </a:r>
            <a:r>
              <a:rPr lang="en-US" sz="2400" b="1" dirty="0">
                <a:solidFill>
                  <a:srgbClr val="FF0000"/>
                </a:solidFill>
              </a:rPr>
              <a:t>Digital signatures </a:t>
            </a:r>
            <a:r>
              <a:rPr lang="en-US" sz="2400" dirty="0"/>
              <a:t>provide part of the solution, but the </a:t>
            </a:r>
            <a:r>
              <a:rPr lang="en-US" sz="2400" dirty="0" smtClean="0"/>
              <a:t>main</a:t>
            </a:r>
            <a:r>
              <a:rPr lang="tr-TR" sz="2400" dirty="0" smtClean="0"/>
              <a:t> </a:t>
            </a:r>
            <a:r>
              <a:rPr lang="en-US" sz="2400" dirty="0" smtClean="0"/>
              <a:t>benefits </a:t>
            </a:r>
            <a:r>
              <a:rPr lang="en-US" sz="2400" dirty="0"/>
              <a:t>are lost if a trusted third party is still required to prevent </a:t>
            </a:r>
            <a:r>
              <a:rPr lang="en-US" sz="2400" b="1" dirty="0">
                <a:solidFill>
                  <a:srgbClr val="FF0000"/>
                </a:solidFill>
              </a:rPr>
              <a:t>double-spending</a:t>
            </a:r>
            <a:r>
              <a:rPr lang="en-US" sz="2400" dirty="0"/>
              <a:t>.</a:t>
            </a:r>
          </a:p>
          <a:p>
            <a:r>
              <a:rPr lang="en-US" sz="2400" dirty="0"/>
              <a:t>We propose a solution to the double-spending problem using a peer-to-peer network</a:t>
            </a:r>
            <a:r>
              <a:rPr lang="en-US" sz="2400" dirty="0" smtClean="0"/>
              <a:t>.</a:t>
            </a:r>
            <a:r>
              <a:rPr lang="tr-TR" sz="2400" dirty="0" smtClean="0"/>
              <a:t> </a:t>
            </a:r>
            <a:r>
              <a:rPr lang="en-US" sz="2400" dirty="0"/>
              <a:t>The network timestamps </a:t>
            </a:r>
            <a:r>
              <a:rPr lang="en-US" sz="2400" b="1" dirty="0">
                <a:solidFill>
                  <a:srgbClr val="FF0000"/>
                </a:solidFill>
              </a:rPr>
              <a:t>transactions by hashing </a:t>
            </a:r>
            <a:r>
              <a:rPr lang="en-US" sz="2400" dirty="0"/>
              <a:t>them into an ongoing </a:t>
            </a:r>
            <a:r>
              <a:rPr lang="en-US" sz="2400" b="1" dirty="0">
                <a:solidFill>
                  <a:srgbClr val="FF0000"/>
                </a:solidFill>
              </a:rPr>
              <a:t>chain</a:t>
            </a:r>
            <a:r>
              <a:rPr lang="en-US" sz="2400" dirty="0"/>
              <a:t> </a:t>
            </a:r>
            <a:r>
              <a:rPr lang="en-US" sz="2400" dirty="0" smtClean="0"/>
              <a:t>of</a:t>
            </a:r>
            <a:r>
              <a:rPr lang="tr-TR" sz="2400" dirty="0" smtClean="0"/>
              <a:t> </a:t>
            </a:r>
            <a:r>
              <a:rPr lang="en-US" sz="2400" dirty="0" smtClean="0"/>
              <a:t>hash-based </a:t>
            </a:r>
            <a:r>
              <a:rPr lang="en-US" sz="2400" dirty="0">
                <a:solidFill>
                  <a:srgbClr val="FF0000"/>
                </a:solidFill>
              </a:rPr>
              <a:t>proof-of-work,</a:t>
            </a:r>
            <a:r>
              <a:rPr lang="en-US" sz="2400" dirty="0"/>
              <a:t> forming a record that </a:t>
            </a:r>
            <a:r>
              <a:rPr lang="en-US" sz="2400" b="1" dirty="0">
                <a:solidFill>
                  <a:srgbClr val="FF0000"/>
                </a:solidFill>
              </a:rPr>
              <a:t>cannot be changed </a:t>
            </a:r>
            <a:r>
              <a:rPr lang="en-US" sz="2400" dirty="0"/>
              <a:t>without </a:t>
            </a:r>
            <a:r>
              <a:rPr lang="en-US" sz="2400" dirty="0" smtClean="0"/>
              <a:t>redoing</a:t>
            </a:r>
            <a:r>
              <a:rPr lang="tr-TR" sz="2400" dirty="0" smtClean="0"/>
              <a:t> </a:t>
            </a:r>
            <a:r>
              <a:rPr lang="en-US" sz="2400" dirty="0" smtClean="0"/>
              <a:t>the </a:t>
            </a:r>
            <a:r>
              <a:rPr lang="en-US" sz="2400" dirty="0"/>
              <a:t>proof-of-work. </a:t>
            </a:r>
            <a:endParaRPr lang="en-US" sz="2400" dirty="0" smtClean="0">
              <a:latin typeface="+mn-lt"/>
            </a:endParaRPr>
          </a:p>
        </p:txBody>
      </p:sp>
    </p:spTree>
    <p:extLst>
      <p:ext uri="{BB962C8B-B14F-4D97-AF65-F5344CB8AC3E}">
        <p14:creationId xmlns:p14="http://schemas.microsoft.com/office/powerpoint/2010/main" val="3258073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18</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Bitcoin Nedir?</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1331640" y="1598452"/>
            <a:ext cx="7704856" cy="4154984"/>
          </a:xfrm>
          <a:prstGeom prst="rect">
            <a:avLst/>
          </a:prstGeom>
          <a:noFill/>
        </p:spPr>
        <p:txBody>
          <a:bodyPr wrap="square" rtlCol="0">
            <a:spAutoFit/>
          </a:bodyPr>
          <a:lstStyle/>
          <a:p>
            <a:r>
              <a:rPr lang="en-US" sz="2400" dirty="0" smtClean="0"/>
              <a:t>The </a:t>
            </a:r>
            <a:r>
              <a:rPr lang="en-US" sz="2400" dirty="0"/>
              <a:t>longest chain not only serves as proof of the </a:t>
            </a:r>
            <a:r>
              <a:rPr lang="tr-TR" sz="2400" dirty="0" smtClean="0"/>
              <a:t> s</a:t>
            </a:r>
            <a:r>
              <a:rPr lang="en-US" sz="2400" dirty="0" err="1" smtClean="0"/>
              <a:t>equence</a:t>
            </a:r>
            <a:r>
              <a:rPr lang="en-US" sz="2400" dirty="0" smtClean="0"/>
              <a:t> of</a:t>
            </a:r>
            <a:r>
              <a:rPr lang="tr-TR" sz="2400" dirty="0" smtClean="0"/>
              <a:t> </a:t>
            </a:r>
            <a:r>
              <a:rPr lang="en-US" sz="2400" dirty="0" smtClean="0"/>
              <a:t>events </a:t>
            </a:r>
            <a:r>
              <a:rPr lang="en-US" sz="2400" dirty="0"/>
              <a:t>witnessed, but proof that it came from the largest </a:t>
            </a:r>
            <a:r>
              <a:rPr lang="en-US" sz="2400" b="1" dirty="0">
                <a:solidFill>
                  <a:srgbClr val="FF0000"/>
                </a:solidFill>
              </a:rPr>
              <a:t>pool</a:t>
            </a:r>
            <a:r>
              <a:rPr lang="en-US" sz="2400" dirty="0"/>
              <a:t> of CPU power. </a:t>
            </a:r>
            <a:r>
              <a:rPr lang="en-US" sz="2400" dirty="0" smtClean="0"/>
              <a:t>As</a:t>
            </a:r>
            <a:r>
              <a:rPr lang="tr-TR" sz="2400" dirty="0" smtClean="0"/>
              <a:t> </a:t>
            </a:r>
            <a:r>
              <a:rPr lang="en-US" sz="2400" dirty="0" smtClean="0"/>
              <a:t>long </a:t>
            </a:r>
            <a:r>
              <a:rPr lang="en-US" sz="2400" dirty="0"/>
              <a:t>as a majority of CPU power is controlled by </a:t>
            </a:r>
            <a:r>
              <a:rPr lang="en-US" sz="2400" b="1" dirty="0">
                <a:solidFill>
                  <a:srgbClr val="FF0000"/>
                </a:solidFill>
              </a:rPr>
              <a:t>nodes</a:t>
            </a:r>
            <a:r>
              <a:rPr lang="en-US" sz="2400" dirty="0"/>
              <a:t> that are not cooperating </a:t>
            </a:r>
            <a:r>
              <a:rPr lang="en-US" sz="2400" dirty="0" smtClean="0"/>
              <a:t>to</a:t>
            </a:r>
            <a:r>
              <a:rPr lang="tr-TR" sz="2400" dirty="0" smtClean="0"/>
              <a:t> </a:t>
            </a:r>
            <a:r>
              <a:rPr lang="en-US" sz="2400" dirty="0" smtClean="0"/>
              <a:t>attack </a:t>
            </a:r>
            <a:r>
              <a:rPr lang="en-US" sz="2400" dirty="0"/>
              <a:t>the network, they'll generate the </a:t>
            </a:r>
            <a:r>
              <a:rPr lang="en-US" sz="2400" b="1" dirty="0">
                <a:solidFill>
                  <a:srgbClr val="FF0000"/>
                </a:solidFill>
              </a:rPr>
              <a:t>longest chain </a:t>
            </a:r>
            <a:r>
              <a:rPr lang="en-US" sz="2400" dirty="0"/>
              <a:t>and outpace attackers. </a:t>
            </a:r>
            <a:endParaRPr lang="tr-TR" sz="2400" dirty="0" smtClean="0"/>
          </a:p>
          <a:p>
            <a:r>
              <a:rPr lang="en-US" sz="2400" dirty="0" smtClean="0"/>
              <a:t>The</a:t>
            </a:r>
            <a:r>
              <a:rPr lang="tr-TR" sz="2400" dirty="0" smtClean="0"/>
              <a:t> </a:t>
            </a:r>
            <a:r>
              <a:rPr lang="en-US" sz="2400" dirty="0" smtClean="0"/>
              <a:t>network </a:t>
            </a:r>
            <a:r>
              <a:rPr lang="en-US" sz="2400" dirty="0"/>
              <a:t>itself requires minimal structure. Messages are broadcast on a best </a:t>
            </a:r>
            <a:r>
              <a:rPr lang="en-US" sz="2400" dirty="0" smtClean="0"/>
              <a:t>effort</a:t>
            </a:r>
            <a:r>
              <a:rPr lang="tr-TR" sz="2400" dirty="0" smtClean="0"/>
              <a:t> </a:t>
            </a:r>
            <a:r>
              <a:rPr lang="en-US" sz="2400" dirty="0" smtClean="0"/>
              <a:t>basis</a:t>
            </a:r>
            <a:r>
              <a:rPr lang="en-US" sz="2400" dirty="0"/>
              <a:t>, and nodes can leave and rejoin the network at will, </a:t>
            </a:r>
            <a:r>
              <a:rPr lang="en-US" sz="2400" b="1" dirty="0">
                <a:solidFill>
                  <a:srgbClr val="FF0000"/>
                </a:solidFill>
              </a:rPr>
              <a:t>accepting the </a:t>
            </a:r>
            <a:r>
              <a:rPr lang="en-US" sz="2400" b="1" dirty="0" smtClean="0">
                <a:solidFill>
                  <a:srgbClr val="FF0000"/>
                </a:solidFill>
              </a:rPr>
              <a:t>longest</a:t>
            </a:r>
            <a:r>
              <a:rPr lang="tr-TR" sz="2400" b="1" dirty="0" smtClean="0">
                <a:solidFill>
                  <a:srgbClr val="FF0000"/>
                </a:solidFill>
              </a:rPr>
              <a:t> </a:t>
            </a:r>
            <a:r>
              <a:rPr lang="en-US" sz="2400" b="1" dirty="0" smtClean="0">
                <a:solidFill>
                  <a:srgbClr val="FF0000"/>
                </a:solidFill>
              </a:rPr>
              <a:t>proof-of-work </a:t>
            </a:r>
            <a:r>
              <a:rPr lang="en-US" sz="2400" dirty="0"/>
              <a:t>chain as proof of what happened while they were gone.</a:t>
            </a:r>
            <a:endParaRPr lang="en-US" sz="2400" dirty="0" smtClean="0">
              <a:latin typeface="+mn-lt"/>
            </a:endParaRPr>
          </a:p>
        </p:txBody>
      </p:sp>
    </p:spTree>
    <p:extLst>
      <p:ext uri="{BB962C8B-B14F-4D97-AF65-F5344CB8AC3E}">
        <p14:creationId xmlns:p14="http://schemas.microsoft.com/office/powerpoint/2010/main" val="839613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19</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Bitcoin Temel Özellikleri</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1331640" y="1598452"/>
            <a:ext cx="7704856" cy="4154984"/>
          </a:xfrm>
          <a:prstGeom prst="rect">
            <a:avLst/>
          </a:prstGeom>
          <a:noFill/>
        </p:spPr>
        <p:txBody>
          <a:bodyPr wrap="square" rtlCol="0">
            <a:spAutoFit/>
          </a:bodyPr>
          <a:lstStyle/>
          <a:p>
            <a:r>
              <a:rPr lang="tr-TR" sz="2400" b="1" dirty="0" smtClean="0">
                <a:latin typeface="+mn-lt"/>
              </a:rPr>
              <a:t>1- Dünya Geneli</a:t>
            </a:r>
          </a:p>
          <a:p>
            <a:r>
              <a:rPr lang="tr-TR" sz="2400" b="1" dirty="0" smtClean="0">
                <a:latin typeface="+mn-lt"/>
              </a:rPr>
              <a:t>2- Yerel Paraya Çevirmeden</a:t>
            </a:r>
          </a:p>
          <a:p>
            <a:r>
              <a:rPr lang="tr-TR" sz="2400" b="1" dirty="0" smtClean="0">
                <a:latin typeface="+mn-lt"/>
              </a:rPr>
              <a:t>3- Komisyon Ücretleri</a:t>
            </a:r>
          </a:p>
          <a:p>
            <a:r>
              <a:rPr lang="tr-TR" sz="2400" b="1" dirty="0" smtClean="0">
                <a:latin typeface="+mn-lt"/>
              </a:rPr>
              <a:t>4- KK na verilen bilgiler olmadan</a:t>
            </a:r>
          </a:p>
          <a:p>
            <a:r>
              <a:rPr lang="tr-TR" sz="2400" b="1" dirty="0" smtClean="0">
                <a:latin typeface="+mn-lt"/>
              </a:rPr>
              <a:t>5- Sahtesi Zor</a:t>
            </a:r>
          </a:p>
          <a:p>
            <a:r>
              <a:rPr lang="tr-TR" sz="2400" b="1" dirty="0" smtClean="0">
                <a:latin typeface="+mn-lt"/>
              </a:rPr>
              <a:t>6- Enflasyon Zor</a:t>
            </a:r>
          </a:p>
          <a:p>
            <a:r>
              <a:rPr lang="tr-TR" sz="2400" b="1" dirty="0" smtClean="0">
                <a:latin typeface="+mn-lt"/>
              </a:rPr>
              <a:t>7- 3. Şahıslar yok</a:t>
            </a:r>
          </a:p>
          <a:p>
            <a:r>
              <a:rPr lang="tr-TR" sz="2400" b="1" dirty="0" smtClean="0">
                <a:latin typeface="+mn-lt"/>
              </a:rPr>
              <a:t>8- Kagıt Kürek işi yok</a:t>
            </a:r>
          </a:p>
          <a:p>
            <a:r>
              <a:rPr lang="tr-TR" sz="2400" b="1" dirty="0" smtClean="0">
                <a:latin typeface="+mn-lt"/>
              </a:rPr>
              <a:t>9- Kimse bilmeden para sahibi olunabilir</a:t>
            </a:r>
          </a:p>
          <a:p>
            <a:r>
              <a:rPr lang="tr-TR" sz="2400" b="1" dirty="0" smtClean="0">
                <a:latin typeface="+mn-lt"/>
              </a:rPr>
              <a:t>10- Hızlı</a:t>
            </a:r>
          </a:p>
          <a:p>
            <a:r>
              <a:rPr lang="tr-TR" sz="2400" b="1" dirty="0" smtClean="0">
                <a:latin typeface="+mn-lt"/>
              </a:rPr>
              <a:t>11- 5 liran bile olsa 21 milyon para kimde bilebilirsin</a:t>
            </a:r>
            <a:endParaRPr lang="en-US" sz="2400" b="1" dirty="0" smtClean="0">
              <a:latin typeface="+mn-lt"/>
            </a:endParaRPr>
          </a:p>
        </p:txBody>
      </p:sp>
    </p:spTree>
    <p:extLst>
      <p:ext uri="{BB962C8B-B14F-4D97-AF65-F5344CB8AC3E}">
        <p14:creationId xmlns:p14="http://schemas.microsoft.com/office/powerpoint/2010/main" val="3012259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20</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Bitcoin Tarihçesi</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1331640" y="1598452"/>
            <a:ext cx="7704856" cy="4524315"/>
          </a:xfrm>
          <a:prstGeom prst="rect">
            <a:avLst/>
          </a:prstGeom>
          <a:noFill/>
        </p:spPr>
        <p:txBody>
          <a:bodyPr wrap="square" rtlCol="0">
            <a:spAutoFit/>
          </a:bodyPr>
          <a:lstStyle/>
          <a:p>
            <a:pPr marL="457200" indent="-457200">
              <a:buFont typeface="+mj-lt"/>
              <a:buAutoNum type="arabicPeriod"/>
            </a:pPr>
            <a:r>
              <a:rPr lang="tr-TR" sz="2400" dirty="0" smtClean="0">
                <a:latin typeface="+mn-lt"/>
              </a:rPr>
              <a:t>18 Ağustos 2008 Bitcoin.org domain adı alındı</a:t>
            </a:r>
          </a:p>
          <a:p>
            <a:pPr marL="457200" indent="-457200">
              <a:buFont typeface="+mj-lt"/>
              <a:buAutoNum type="arabicPeriod"/>
            </a:pPr>
            <a:r>
              <a:rPr lang="tr-TR" sz="2400" dirty="0" smtClean="0"/>
              <a:t>31 Ekim 2008</a:t>
            </a:r>
            <a:r>
              <a:rPr lang="tr-TR" sz="2400" dirty="0" smtClean="0">
                <a:latin typeface="+mn-lt"/>
              </a:rPr>
              <a:t> da makale yayınlandı</a:t>
            </a:r>
          </a:p>
          <a:p>
            <a:pPr marL="457200" indent="-457200">
              <a:buFont typeface="+mj-lt"/>
              <a:buAutoNum type="arabicPeriod"/>
            </a:pPr>
            <a:r>
              <a:rPr lang="tr-TR" sz="2400" dirty="0" smtClean="0">
                <a:latin typeface="+mn-lt"/>
              </a:rPr>
              <a:t> 9 Ocak 2009 İlk Versiyon yayınlandı</a:t>
            </a:r>
          </a:p>
          <a:p>
            <a:pPr marL="457200" indent="-457200">
              <a:buFont typeface="+mj-lt"/>
              <a:buAutoNum type="arabicPeriod"/>
            </a:pPr>
            <a:r>
              <a:rPr lang="tr-TR" sz="2400" dirty="0" smtClean="0">
                <a:latin typeface="+mn-lt"/>
              </a:rPr>
              <a:t>12 Ocak İlk Bitcoin Gönderildi</a:t>
            </a:r>
          </a:p>
          <a:p>
            <a:pPr marL="457200" indent="-457200">
              <a:buFont typeface="+mj-lt"/>
              <a:buAutoNum type="arabicPeriod"/>
            </a:pPr>
            <a:r>
              <a:rPr lang="tr-TR" sz="2400" dirty="0" smtClean="0">
                <a:latin typeface="+mn-lt"/>
              </a:rPr>
              <a:t>5 Ekim 2009 İlk kez Bitcoin değeri hesaplandı. 1 Dolar =1.309</a:t>
            </a:r>
          </a:p>
          <a:p>
            <a:pPr marL="457200" indent="-457200">
              <a:buFont typeface="+mj-lt"/>
              <a:buAutoNum type="arabicPeriod"/>
            </a:pPr>
            <a:r>
              <a:rPr lang="tr-TR" sz="2400" dirty="0" smtClean="0">
                <a:latin typeface="+mn-lt"/>
              </a:rPr>
              <a:t>30 Aralık Zorluk Derecesi ilk Kez Arttı</a:t>
            </a:r>
          </a:p>
          <a:p>
            <a:pPr marL="457200" indent="-457200">
              <a:buFont typeface="+mj-lt"/>
              <a:buAutoNum type="arabicPeriod"/>
            </a:pPr>
            <a:r>
              <a:rPr lang="tr-TR" sz="2400" dirty="0" smtClean="0">
                <a:latin typeface="+mn-lt"/>
              </a:rPr>
              <a:t>6 Şubat 2010 Exchange Sitesi Kuruldur</a:t>
            </a:r>
          </a:p>
          <a:p>
            <a:pPr marL="457200" indent="-457200">
              <a:buFont typeface="+mj-lt"/>
              <a:buAutoNum type="arabicPeriod"/>
            </a:pPr>
            <a:r>
              <a:rPr lang="tr-TR" sz="2400" dirty="0" smtClean="0">
                <a:latin typeface="+mn-lt"/>
              </a:rPr>
              <a:t>22 Mayıs ilk Bitcoin Alışverişi Yapıldı. Bir Pizza karşılığı 10.000 Bitcoin.</a:t>
            </a:r>
          </a:p>
          <a:p>
            <a:pPr marL="457200" indent="-457200">
              <a:buFont typeface="+mj-lt"/>
              <a:buAutoNum type="arabicPeriod"/>
            </a:pPr>
            <a:r>
              <a:rPr lang="tr-TR" sz="2400" dirty="0" smtClean="0">
                <a:latin typeface="+mn-lt"/>
              </a:rPr>
              <a:t>12 temmuz 2010 Bitcoin 10 katına Çıktı. 0.008=&gt;0.08</a:t>
            </a:r>
          </a:p>
          <a:p>
            <a:pPr marL="457200" indent="-457200">
              <a:buFont typeface="+mj-lt"/>
              <a:buAutoNum type="arabicPeriod"/>
            </a:pPr>
            <a:r>
              <a:rPr lang="tr-TR" sz="2400" dirty="0" smtClean="0">
                <a:latin typeface="+mn-lt"/>
              </a:rPr>
              <a:t>18 Ekim 2010 İlk Madencilik Havuzu </a:t>
            </a:r>
            <a:endParaRPr lang="en-US" sz="2400" dirty="0" smtClean="0">
              <a:latin typeface="+mn-lt"/>
            </a:endParaRPr>
          </a:p>
        </p:txBody>
      </p:sp>
    </p:spTree>
    <p:extLst>
      <p:ext uri="{BB962C8B-B14F-4D97-AF65-F5344CB8AC3E}">
        <p14:creationId xmlns:p14="http://schemas.microsoft.com/office/powerpoint/2010/main" val="4100052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21</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Bitcoin Tarihçesi</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1331640" y="1598452"/>
            <a:ext cx="7704856" cy="461665"/>
          </a:xfrm>
          <a:prstGeom prst="rect">
            <a:avLst/>
          </a:prstGeom>
          <a:noFill/>
        </p:spPr>
        <p:txBody>
          <a:bodyPr wrap="square" rtlCol="0">
            <a:spAutoFit/>
          </a:bodyPr>
          <a:lstStyle/>
          <a:p>
            <a:r>
              <a:rPr lang="tr-TR" sz="2400" dirty="0" smtClean="0">
                <a:latin typeface="+mn-lt"/>
              </a:rPr>
              <a:t> </a:t>
            </a:r>
            <a:endParaRPr lang="en-US" sz="2400" dirty="0" smtClean="0">
              <a:latin typeface="+mn-lt"/>
            </a:endParaRPr>
          </a:p>
        </p:txBody>
      </p:sp>
      <p:sp>
        <p:nvSpPr>
          <p:cNvPr id="9" name="TextBox 8"/>
          <p:cNvSpPr txBox="1"/>
          <p:nvPr/>
        </p:nvSpPr>
        <p:spPr>
          <a:xfrm>
            <a:off x="1331640" y="1598452"/>
            <a:ext cx="7704856" cy="4524315"/>
          </a:xfrm>
          <a:prstGeom prst="rect">
            <a:avLst/>
          </a:prstGeom>
          <a:noFill/>
        </p:spPr>
        <p:txBody>
          <a:bodyPr wrap="square" rtlCol="0">
            <a:spAutoFit/>
          </a:bodyPr>
          <a:lstStyle/>
          <a:p>
            <a:pPr marL="457200" indent="-457200">
              <a:buFont typeface="+mj-lt"/>
              <a:buAutoNum type="arabicPeriod" startAt="11"/>
            </a:pPr>
            <a:r>
              <a:rPr lang="tr-TR" sz="2400" dirty="0" smtClean="0">
                <a:latin typeface="+mn-lt"/>
              </a:rPr>
              <a:t>9 Şubat 2011 1Dolar=1 Bitcoin</a:t>
            </a:r>
          </a:p>
          <a:p>
            <a:pPr marL="457200" indent="-457200">
              <a:buFont typeface="+mj-lt"/>
              <a:buAutoNum type="arabicPeriod" startAt="11"/>
            </a:pPr>
            <a:r>
              <a:rPr lang="tr-TR" sz="2400" dirty="0" smtClean="0">
                <a:latin typeface="+mn-lt"/>
              </a:rPr>
              <a:t>16 Nisan 2011 Time Magazin Bitcoin hakkında  makale</a:t>
            </a:r>
          </a:p>
          <a:p>
            <a:pPr marL="457200" indent="-457200">
              <a:buFont typeface="+mj-lt"/>
              <a:buAutoNum type="arabicPeriod" startAt="11"/>
            </a:pPr>
            <a:r>
              <a:rPr lang="tr-TR" sz="2400" dirty="0" smtClean="0">
                <a:latin typeface="+mn-lt"/>
              </a:rPr>
              <a:t>2 Haziran 2011 1 Bitcoin=10 Dolar</a:t>
            </a:r>
          </a:p>
          <a:p>
            <a:pPr marL="457200" indent="-457200">
              <a:buFont typeface="+mj-lt"/>
              <a:buAutoNum type="arabicPeriod" startAt="11"/>
            </a:pPr>
            <a:r>
              <a:rPr lang="tr-TR" sz="2400" dirty="0" smtClean="0">
                <a:latin typeface="+mn-lt"/>
              </a:rPr>
              <a:t>8 Haziran 2011 1 Bitcoin=31 Dolar</a:t>
            </a:r>
          </a:p>
          <a:p>
            <a:pPr marL="457200" indent="-457200">
              <a:buFont typeface="+mj-lt"/>
              <a:buAutoNum type="arabicPeriod" startAt="11"/>
            </a:pPr>
            <a:r>
              <a:rPr lang="tr-TR" sz="2400" dirty="0" smtClean="0">
                <a:latin typeface="+mn-lt"/>
              </a:rPr>
              <a:t>12 </a:t>
            </a:r>
            <a:r>
              <a:rPr lang="tr-TR" sz="2400" dirty="0"/>
              <a:t>Haziran 2011 1 </a:t>
            </a:r>
            <a:r>
              <a:rPr lang="tr-TR" sz="2400" dirty="0" smtClean="0"/>
              <a:t>Bitcoin=10 Dolar</a:t>
            </a:r>
          </a:p>
          <a:p>
            <a:pPr marL="457200" indent="-457200">
              <a:buFont typeface="+mj-lt"/>
              <a:buAutoNum type="arabicPeriod" startAt="11"/>
            </a:pPr>
            <a:r>
              <a:rPr lang="tr-TR" sz="2400" dirty="0" smtClean="0">
                <a:latin typeface="+mn-lt"/>
              </a:rPr>
              <a:t>20 Ağustos 2011 İlk Bitcoin Konferansı</a:t>
            </a:r>
          </a:p>
          <a:p>
            <a:pPr marL="457200" indent="-457200">
              <a:buFont typeface="+mj-lt"/>
              <a:buAutoNum type="arabicPeriod" startAt="11"/>
            </a:pPr>
            <a:r>
              <a:rPr lang="tr-TR" sz="2400" dirty="0" smtClean="0">
                <a:latin typeface="+mn-lt"/>
              </a:rPr>
              <a:t>12 Şubat 2012 Bitcoin Magazin</a:t>
            </a:r>
          </a:p>
          <a:p>
            <a:pPr marL="457200" indent="-457200">
              <a:buFont typeface="+mj-lt"/>
              <a:buAutoNum type="arabicPeriod" startAt="11"/>
            </a:pPr>
            <a:r>
              <a:rPr lang="tr-TR" sz="2400" dirty="0" smtClean="0">
                <a:latin typeface="+mn-lt"/>
              </a:rPr>
              <a:t>9 Mayıs 2012 FBI </a:t>
            </a:r>
          </a:p>
          <a:p>
            <a:pPr marL="457200" indent="-457200">
              <a:buFont typeface="+mj-lt"/>
              <a:buAutoNum type="arabicPeriod" startAt="11"/>
            </a:pPr>
            <a:r>
              <a:rPr lang="tr-TR" sz="2400" dirty="0" smtClean="0">
                <a:latin typeface="+mn-lt"/>
              </a:rPr>
              <a:t>27 Eylül 2012 Bitcoin Foundation Kuruldu</a:t>
            </a:r>
          </a:p>
          <a:p>
            <a:pPr marL="457200" indent="-457200">
              <a:buFont typeface="+mj-lt"/>
              <a:buAutoNum type="arabicPeriod" startAt="11"/>
            </a:pPr>
            <a:r>
              <a:rPr lang="tr-TR" sz="2400" dirty="0" smtClean="0">
                <a:latin typeface="+mn-lt"/>
              </a:rPr>
              <a:t>22 Şubar 2013 1 Bitcoin=30 Dolar</a:t>
            </a:r>
          </a:p>
          <a:p>
            <a:pPr marL="457200" indent="-457200">
              <a:buFont typeface="+mj-lt"/>
              <a:buAutoNum type="arabicPeriod" startAt="11"/>
            </a:pPr>
            <a:r>
              <a:rPr lang="tr-TR" sz="2400" dirty="0" smtClean="0">
                <a:latin typeface="+mn-lt"/>
              </a:rPr>
              <a:t>21 mart 2013 1 Bitcoin=75 Dolar</a:t>
            </a:r>
          </a:p>
          <a:p>
            <a:pPr marL="457200" indent="-457200">
              <a:buFont typeface="+mj-lt"/>
              <a:buAutoNum type="arabicPeriod" startAt="11"/>
            </a:pPr>
            <a:r>
              <a:rPr lang="tr-TR" sz="2400" dirty="0" smtClean="0">
                <a:latin typeface="+mn-lt"/>
              </a:rPr>
              <a:t>28 Mart 2013  Bitcoin piyasa dğeri 1 Milyar Dolar</a:t>
            </a:r>
            <a:endParaRPr lang="en-US" sz="2400" dirty="0" smtClean="0">
              <a:latin typeface="+mn-lt"/>
            </a:endParaRPr>
          </a:p>
        </p:txBody>
      </p:sp>
    </p:spTree>
    <p:extLst>
      <p:ext uri="{BB962C8B-B14F-4D97-AF65-F5344CB8AC3E}">
        <p14:creationId xmlns:p14="http://schemas.microsoft.com/office/powerpoint/2010/main" val="596790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22</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Bitcoin Tarihçesi</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1331640" y="1598452"/>
            <a:ext cx="7704856" cy="461665"/>
          </a:xfrm>
          <a:prstGeom prst="rect">
            <a:avLst/>
          </a:prstGeom>
          <a:noFill/>
        </p:spPr>
        <p:txBody>
          <a:bodyPr wrap="square" rtlCol="0">
            <a:spAutoFit/>
          </a:bodyPr>
          <a:lstStyle/>
          <a:p>
            <a:r>
              <a:rPr lang="tr-TR" sz="2400" dirty="0" smtClean="0">
                <a:latin typeface="+mn-lt"/>
              </a:rPr>
              <a:t> </a:t>
            </a:r>
            <a:endParaRPr lang="en-US" sz="2400" dirty="0" smtClean="0">
              <a:latin typeface="+mn-lt"/>
            </a:endParaRPr>
          </a:p>
        </p:txBody>
      </p:sp>
      <p:sp>
        <p:nvSpPr>
          <p:cNvPr id="9" name="TextBox 8"/>
          <p:cNvSpPr txBox="1"/>
          <p:nvPr/>
        </p:nvSpPr>
        <p:spPr>
          <a:xfrm>
            <a:off x="1331640" y="1598452"/>
            <a:ext cx="7704856" cy="3416320"/>
          </a:xfrm>
          <a:prstGeom prst="rect">
            <a:avLst/>
          </a:prstGeom>
          <a:noFill/>
        </p:spPr>
        <p:txBody>
          <a:bodyPr wrap="square" rtlCol="0">
            <a:spAutoFit/>
          </a:bodyPr>
          <a:lstStyle/>
          <a:p>
            <a:pPr marL="457200" indent="-457200">
              <a:buFont typeface="+mj-lt"/>
              <a:buAutoNum type="arabicPeriod" startAt="23"/>
            </a:pPr>
            <a:r>
              <a:rPr lang="tr-TR" sz="2400" dirty="0">
                <a:latin typeface="+mn-lt"/>
              </a:rPr>
              <a:t> </a:t>
            </a:r>
            <a:r>
              <a:rPr lang="tr-TR" sz="2400" dirty="0" smtClean="0">
                <a:latin typeface="+mn-lt"/>
              </a:rPr>
              <a:t>Nisan 2013 Bitcoin 100 doları geçti</a:t>
            </a:r>
          </a:p>
          <a:p>
            <a:pPr marL="457200" indent="-457200">
              <a:buFont typeface="+mj-lt"/>
              <a:buAutoNum type="arabicPeriod" startAt="23"/>
            </a:pPr>
            <a:r>
              <a:rPr lang="tr-TR" sz="2400" dirty="0" smtClean="0">
                <a:latin typeface="+mn-lt"/>
              </a:rPr>
              <a:t>10 Nisan 2013 1 Bitcoin=266 Dolar</a:t>
            </a:r>
          </a:p>
          <a:p>
            <a:pPr marL="457200" indent="-457200">
              <a:buFont typeface="+mj-lt"/>
              <a:buAutoNum type="arabicPeriod" startAt="23"/>
            </a:pPr>
            <a:r>
              <a:rPr lang="tr-TR" sz="2400" dirty="0" smtClean="0">
                <a:latin typeface="+mn-lt"/>
              </a:rPr>
              <a:t>2 mayıs 2013 İlk Bitcoin ATM i</a:t>
            </a:r>
          </a:p>
          <a:p>
            <a:pPr marL="457200" indent="-457200">
              <a:buFont typeface="+mj-lt"/>
              <a:buAutoNum type="arabicPeriod" startAt="23"/>
            </a:pPr>
            <a:r>
              <a:rPr lang="tr-TR" sz="2400" dirty="0" smtClean="0">
                <a:latin typeface="+mn-lt"/>
              </a:rPr>
              <a:t>19 Kasım 2013 bitcoin 1000 Doları geçti.</a:t>
            </a:r>
          </a:p>
          <a:p>
            <a:pPr marL="457200" indent="-457200">
              <a:buFont typeface="+mj-lt"/>
              <a:buAutoNum type="arabicPeriod" startAt="23"/>
            </a:pPr>
            <a:r>
              <a:rPr lang="tr-TR" sz="2400" dirty="0" smtClean="0">
                <a:latin typeface="+mn-lt"/>
              </a:rPr>
              <a:t>25 Kasım 2013 BDDK bir açıklama yayınladı</a:t>
            </a:r>
          </a:p>
          <a:p>
            <a:pPr marL="457200" indent="-457200">
              <a:buFont typeface="+mj-lt"/>
              <a:buAutoNum type="arabicPeriod" startAt="23"/>
            </a:pPr>
            <a:r>
              <a:rPr lang="tr-TR" sz="2400" dirty="0" smtClean="0">
                <a:latin typeface="+mn-lt"/>
              </a:rPr>
              <a:t>5 Aralık 2013 Çin Merkez bankası Bitcoini yasakaldı</a:t>
            </a:r>
          </a:p>
          <a:p>
            <a:pPr marL="457200" indent="-457200">
              <a:buFont typeface="+mj-lt"/>
              <a:buAutoNum type="arabicPeriod" startAt="23"/>
            </a:pPr>
            <a:r>
              <a:rPr lang="tr-TR" sz="2400" dirty="0" smtClean="0">
                <a:latin typeface="+mn-lt"/>
              </a:rPr>
              <a:t>17 Aralık 2013 Çin bitcoin işlemlerinde yuan kullanılmasını yasakldaı bitcoin 500 dolara indi</a:t>
            </a:r>
          </a:p>
          <a:p>
            <a:pPr marL="457200" indent="-457200">
              <a:buFont typeface="+mj-lt"/>
              <a:buAutoNum type="arabicPeriod" startAt="23"/>
            </a:pPr>
            <a:r>
              <a:rPr lang="tr-TR" sz="2400" dirty="0" smtClean="0">
                <a:latin typeface="+mn-lt"/>
              </a:rPr>
              <a:t>10 Şubat 2014 Bitcoin 250 indi.</a:t>
            </a:r>
            <a:endParaRPr lang="en-US" sz="2400" dirty="0" smtClean="0">
              <a:latin typeface="+mn-lt"/>
            </a:endParaRPr>
          </a:p>
        </p:txBody>
      </p:sp>
    </p:spTree>
    <p:extLst>
      <p:ext uri="{BB962C8B-B14F-4D97-AF65-F5344CB8AC3E}">
        <p14:creationId xmlns:p14="http://schemas.microsoft.com/office/powerpoint/2010/main" val="2269789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23</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Bitcoin Zorlukları</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1331640" y="1598452"/>
            <a:ext cx="7704856" cy="2554545"/>
          </a:xfrm>
          <a:prstGeom prst="rect">
            <a:avLst/>
          </a:prstGeom>
          <a:noFill/>
        </p:spPr>
        <p:txBody>
          <a:bodyPr wrap="square" rtlCol="0">
            <a:spAutoFit/>
          </a:bodyPr>
          <a:lstStyle/>
          <a:p>
            <a:r>
              <a:rPr lang="tr-TR" sz="4000" b="1" dirty="0" smtClean="0">
                <a:latin typeface="+mn-lt"/>
              </a:rPr>
              <a:t>1- Yeni para icat etmek kolay iş değil</a:t>
            </a:r>
          </a:p>
          <a:p>
            <a:r>
              <a:rPr lang="tr-TR" sz="4000" b="1" dirty="0" smtClean="0">
                <a:latin typeface="+mn-lt"/>
              </a:rPr>
              <a:t>2- Teknolojisi biraz karışık</a:t>
            </a:r>
          </a:p>
          <a:p>
            <a:r>
              <a:rPr lang="tr-TR" sz="4000" b="1" dirty="0" smtClean="0">
                <a:latin typeface="+mn-lt"/>
              </a:rPr>
              <a:t>3- Değeri nasıl belirlenecek</a:t>
            </a:r>
            <a:endParaRPr lang="en-US" sz="4000" b="1" dirty="0" smtClean="0">
              <a:latin typeface="+mn-lt"/>
            </a:endParaRPr>
          </a:p>
        </p:txBody>
      </p:sp>
    </p:spTree>
    <p:extLst>
      <p:ext uri="{BB962C8B-B14F-4D97-AF65-F5344CB8AC3E}">
        <p14:creationId xmlns:p14="http://schemas.microsoft.com/office/powerpoint/2010/main" val="4177111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24</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Bitcoin Zorlukları</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1331640" y="1598452"/>
            <a:ext cx="7704856" cy="3170099"/>
          </a:xfrm>
          <a:prstGeom prst="rect">
            <a:avLst/>
          </a:prstGeom>
          <a:noFill/>
        </p:spPr>
        <p:txBody>
          <a:bodyPr wrap="square" rtlCol="0">
            <a:spAutoFit/>
          </a:bodyPr>
          <a:lstStyle/>
          <a:p>
            <a:r>
              <a:rPr lang="tr-TR" sz="4000" b="1" dirty="0">
                <a:latin typeface="+mn-lt"/>
                <a:hlinkClick r:id="rId4"/>
              </a:rPr>
              <a:t>https://</a:t>
            </a:r>
            <a:r>
              <a:rPr lang="tr-TR" sz="4000" b="1" dirty="0" smtClean="0">
                <a:latin typeface="+mn-lt"/>
                <a:hlinkClick r:id="rId4"/>
              </a:rPr>
              <a:t>blockchain.info/charts</a:t>
            </a:r>
            <a:endParaRPr lang="tr-TR" sz="4000" b="1" dirty="0" smtClean="0">
              <a:latin typeface="+mn-lt"/>
            </a:endParaRPr>
          </a:p>
          <a:p>
            <a:endParaRPr lang="tr-TR" sz="4000" b="1" dirty="0">
              <a:latin typeface="+mn-lt"/>
            </a:endParaRPr>
          </a:p>
          <a:p>
            <a:r>
              <a:rPr lang="en-US" sz="4000" b="1" dirty="0">
                <a:latin typeface="+mn-lt"/>
              </a:rPr>
              <a:t>http://www.forbes.com/sites/jonmatonis/2012/07/31/top-10-bitcoin-statistics/#7a142f8d539b</a:t>
            </a:r>
            <a:endParaRPr lang="en-US" sz="4000" b="1" dirty="0" smtClean="0">
              <a:latin typeface="+mn-lt"/>
            </a:endParaRPr>
          </a:p>
        </p:txBody>
      </p:sp>
    </p:spTree>
    <p:extLst>
      <p:ext uri="{BB962C8B-B14F-4D97-AF65-F5344CB8AC3E}">
        <p14:creationId xmlns:p14="http://schemas.microsoft.com/office/powerpoint/2010/main" val="1045485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25</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Bitcoin Units</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Table 1"/>
          <p:cNvGraphicFramePr>
            <a:graphicFrameLocks noGrp="1"/>
          </p:cNvGraphicFramePr>
          <p:nvPr>
            <p:extLst>
              <p:ext uri="{D42A27DB-BD31-4B8C-83A1-F6EECF244321}">
                <p14:modId xmlns:p14="http://schemas.microsoft.com/office/powerpoint/2010/main" val="3324873713"/>
              </p:ext>
            </p:extLst>
          </p:nvPr>
        </p:nvGraphicFramePr>
        <p:xfrm>
          <a:off x="1398512" y="1571625"/>
          <a:ext cx="7632849" cy="3902707"/>
        </p:xfrm>
        <a:graphic>
          <a:graphicData uri="http://schemas.openxmlformats.org/drawingml/2006/table">
            <a:tbl>
              <a:tblPr>
                <a:tableStyleId>{5C22544A-7EE6-4342-B048-85BDC9FD1C3A}</a:tableStyleId>
              </a:tblPr>
              <a:tblGrid>
                <a:gridCol w="1465386"/>
                <a:gridCol w="1155691"/>
                <a:gridCol w="558962"/>
                <a:gridCol w="1359637"/>
                <a:gridCol w="1467274"/>
                <a:gridCol w="1625899"/>
              </a:tblGrid>
              <a:tr h="183729">
                <a:tc rowSpan="2">
                  <a:txBody>
                    <a:bodyPr/>
                    <a:lstStyle/>
                    <a:p>
                      <a:pPr algn="l" fontAlgn="ctr"/>
                      <a:r>
                        <a:rPr lang="en-US" sz="1000" u="none" strike="noStrike" dirty="0">
                          <a:effectLst/>
                        </a:rPr>
                        <a:t>Bitcoin Value</a:t>
                      </a:r>
                      <a:endParaRPr lang="en-US" sz="1000" b="1" i="0" u="none" strike="noStrike" dirty="0">
                        <a:solidFill>
                          <a:srgbClr val="333333"/>
                        </a:solidFill>
                        <a:effectLst/>
                        <a:latin typeface="Arial"/>
                      </a:endParaRPr>
                    </a:p>
                  </a:txBody>
                  <a:tcPr marL="6738" marR="6738" marT="6738" marB="0" anchor="ctr">
                    <a:solidFill>
                      <a:schemeClr val="accent1">
                        <a:tint val="20000"/>
                      </a:schemeClr>
                    </a:solidFill>
                  </a:tcPr>
                </a:tc>
                <a:tc rowSpan="2">
                  <a:txBody>
                    <a:bodyPr/>
                    <a:lstStyle/>
                    <a:p>
                      <a:pPr algn="l" fontAlgn="ctr"/>
                      <a:r>
                        <a:rPr lang="en-US" sz="1000" u="none" strike="noStrike">
                          <a:effectLst/>
                        </a:rPr>
                        <a:t>Fractional Unit Value</a:t>
                      </a:r>
                      <a:endParaRPr lang="en-US" sz="1000" b="1" i="0" u="none" strike="noStrike">
                        <a:solidFill>
                          <a:srgbClr val="333333"/>
                        </a:solidFill>
                        <a:effectLst/>
                        <a:latin typeface="Arial"/>
                      </a:endParaRPr>
                    </a:p>
                  </a:txBody>
                  <a:tcPr marL="6738" marR="6738" marT="6738" marB="0" anchor="ctr">
                    <a:solidFill>
                      <a:schemeClr val="accent1">
                        <a:tint val="20000"/>
                      </a:schemeClr>
                    </a:solidFill>
                  </a:tcPr>
                </a:tc>
                <a:tc rowSpan="2">
                  <a:txBody>
                    <a:bodyPr/>
                    <a:lstStyle/>
                    <a:p>
                      <a:pPr algn="l" fontAlgn="ctr"/>
                      <a:r>
                        <a:rPr lang="en-US" sz="1000" u="none" strike="noStrike">
                          <a:effectLst/>
                        </a:rPr>
                        <a:t>Unit Type</a:t>
                      </a:r>
                      <a:endParaRPr lang="en-US" sz="1000" b="1" i="0" u="none" strike="noStrike">
                        <a:solidFill>
                          <a:srgbClr val="333333"/>
                        </a:solidFill>
                        <a:effectLst/>
                        <a:latin typeface="Arial"/>
                      </a:endParaRPr>
                    </a:p>
                  </a:txBody>
                  <a:tcPr marL="6738" marR="6738" marT="6738" marB="0" anchor="ctr">
                    <a:solidFill>
                      <a:schemeClr val="accent1">
                        <a:tint val="20000"/>
                      </a:schemeClr>
                    </a:solidFill>
                  </a:tcPr>
                </a:tc>
                <a:tc rowSpan="2">
                  <a:txBody>
                    <a:bodyPr/>
                    <a:lstStyle/>
                    <a:p>
                      <a:pPr algn="l" fontAlgn="ctr"/>
                      <a:r>
                        <a:rPr lang="en-US" sz="1000" u="none" strike="noStrike">
                          <a:effectLst/>
                        </a:rPr>
                        <a:t>Proposed Denomination</a:t>
                      </a:r>
                      <a:endParaRPr lang="en-US" sz="1000" b="1" i="0" u="none" strike="noStrike">
                        <a:solidFill>
                          <a:srgbClr val="333333"/>
                        </a:solidFill>
                        <a:effectLst/>
                        <a:latin typeface="Arial"/>
                      </a:endParaRPr>
                    </a:p>
                  </a:txBody>
                  <a:tcPr marL="6738" marR="6738" marT="6738" marB="0" anchor="ctr">
                    <a:solidFill>
                      <a:schemeClr val="accent1">
                        <a:tint val="20000"/>
                      </a:schemeClr>
                    </a:solidFill>
                  </a:tcPr>
                </a:tc>
                <a:tc>
                  <a:txBody>
                    <a:bodyPr/>
                    <a:lstStyle/>
                    <a:p>
                      <a:pPr algn="l" fontAlgn="ctr"/>
                      <a:r>
                        <a:rPr lang="en-US" sz="1000" u="none" strike="noStrike">
                          <a:effectLst/>
                        </a:rPr>
                        <a:t>Shorthand Markup </a:t>
                      </a:r>
                      <a:endParaRPr lang="en-US" sz="1000" b="1" i="0" u="none" strike="noStrike">
                        <a:solidFill>
                          <a:srgbClr val="333333"/>
                        </a:solidFill>
                        <a:effectLst/>
                        <a:latin typeface="Arial"/>
                      </a:endParaRPr>
                    </a:p>
                  </a:txBody>
                  <a:tcPr marL="6738" marR="6738" marT="6738" marB="0" anchor="ctr">
                    <a:solidFill>
                      <a:schemeClr val="accent1">
                        <a:tint val="20000"/>
                      </a:schemeClr>
                    </a:solidFill>
                  </a:tcPr>
                </a:tc>
                <a:tc rowSpan="2">
                  <a:txBody>
                    <a:bodyPr/>
                    <a:lstStyle/>
                    <a:p>
                      <a:pPr algn="l" fontAlgn="ctr"/>
                      <a:r>
                        <a:rPr lang="en-US" sz="1000" u="none" strike="noStrike">
                          <a:effectLst/>
                        </a:rPr>
                        <a:t>Common Alternatives</a:t>
                      </a:r>
                      <a:endParaRPr lang="en-US" sz="1000" b="1" i="0" u="none" strike="noStrike">
                        <a:solidFill>
                          <a:srgbClr val="333333"/>
                        </a:solidFill>
                        <a:effectLst/>
                        <a:latin typeface="Arial"/>
                      </a:endParaRPr>
                    </a:p>
                  </a:txBody>
                  <a:tcPr marL="6738" marR="6738" marT="6738" marB="0" anchor="ctr">
                    <a:solidFill>
                      <a:schemeClr val="accent1">
                        <a:tint val="20000"/>
                      </a:schemeClr>
                    </a:solidFill>
                  </a:tcPr>
                </a:tc>
              </a:tr>
              <a:tr h="350616">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ctr"/>
                      <a:r>
                        <a:rPr lang="en-US" sz="1000" u="none" strike="noStrike">
                          <a:effectLst/>
                        </a:rPr>
                        <a:t>(XBT or Currency Symbol)</a:t>
                      </a:r>
                      <a:endParaRPr lang="en-US" sz="1000" b="1" i="0" u="none" strike="noStrike">
                        <a:solidFill>
                          <a:srgbClr val="333333"/>
                        </a:solidFill>
                        <a:effectLst/>
                        <a:latin typeface="Arial"/>
                      </a:endParaRPr>
                    </a:p>
                  </a:txBody>
                  <a:tcPr marL="6738" marR="6738" marT="6738" marB="0" anchor="ctr">
                    <a:solidFill>
                      <a:schemeClr val="accent1">
                        <a:tint val="20000"/>
                      </a:schemeClr>
                    </a:solidFill>
                  </a:tcPr>
                </a:tc>
                <a:tc vMerge="1">
                  <a:txBody>
                    <a:bodyPr/>
                    <a:lstStyle/>
                    <a:p>
                      <a:endParaRPr lang="en-US"/>
                    </a:p>
                  </a:txBody>
                  <a:tcPr/>
                </a:tc>
              </a:tr>
              <a:tr h="375113">
                <a:tc>
                  <a:txBody>
                    <a:bodyPr/>
                    <a:lstStyle/>
                    <a:p>
                      <a:pPr algn="l" fontAlgn="t"/>
                      <a:r>
                        <a:rPr lang="en-US" sz="1000" u="none" strike="noStrike">
                          <a:effectLst/>
                        </a:rPr>
                        <a:t>1.00000000 Bitcoin</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100,000,000</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Base Unit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Bitcoin</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1 XBT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Bitcoin, BTC, XBT, 100 MegaBit</a:t>
                      </a:r>
                      <a:endParaRPr lang="en-US" sz="1000" b="0" i="0" u="none" strike="noStrike">
                        <a:solidFill>
                          <a:srgbClr val="333333"/>
                        </a:solidFill>
                        <a:effectLst/>
                        <a:latin typeface="Arial"/>
                      </a:endParaRPr>
                    </a:p>
                  </a:txBody>
                  <a:tcPr marL="6738" marR="6738" marT="6738" marB="0">
                    <a:solidFill>
                      <a:schemeClr val="accent1">
                        <a:tint val="20000"/>
                      </a:schemeClr>
                    </a:solidFill>
                  </a:tcPr>
                </a:tc>
              </a:tr>
              <a:tr h="375113">
                <a:tc>
                  <a:txBody>
                    <a:bodyPr/>
                    <a:lstStyle/>
                    <a:p>
                      <a:pPr algn="l" fontAlgn="t"/>
                      <a:r>
                        <a:rPr lang="en-US" sz="1000" u="none" strike="noStrike">
                          <a:effectLst/>
                        </a:rPr>
                        <a:t>0.10000000 Bitcoin</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10,000,000</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dirty="0">
                          <a:effectLst/>
                        </a:rPr>
                        <a:t>Subunit</a:t>
                      </a:r>
                      <a:endParaRPr lang="en-US" sz="1000" b="0" i="0" u="none" strike="noStrike" dirty="0">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Ten MegaBit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10 MXBT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 </a:t>
                      </a:r>
                      <a:endParaRPr lang="en-US" sz="1000" b="0" i="0" u="none" strike="noStrike">
                        <a:solidFill>
                          <a:srgbClr val="333333"/>
                        </a:solidFill>
                        <a:effectLst/>
                        <a:latin typeface="Arial"/>
                      </a:endParaRPr>
                    </a:p>
                  </a:txBody>
                  <a:tcPr marL="6738" marR="6738" marT="6738" marB="0">
                    <a:solidFill>
                      <a:schemeClr val="accent1">
                        <a:tint val="20000"/>
                      </a:schemeClr>
                    </a:solidFill>
                  </a:tcPr>
                </a:tc>
              </a:tr>
              <a:tr h="375113">
                <a:tc>
                  <a:txBody>
                    <a:bodyPr/>
                    <a:lstStyle/>
                    <a:p>
                      <a:pPr algn="l" fontAlgn="t"/>
                      <a:r>
                        <a:rPr lang="en-US" sz="1000" u="none" strike="noStrike">
                          <a:effectLst/>
                        </a:rPr>
                        <a:t>0.01000000 Bitcoin</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dirty="0">
                          <a:effectLst/>
                        </a:rPr>
                        <a:t>1,000,000</a:t>
                      </a:r>
                      <a:endParaRPr lang="en-US" sz="1000" b="0" i="0" u="none" strike="noStrike" dirty="0">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Subunit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One MegaBit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1 MXBT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Bitcent, Centibitcoin</a:t>
                      </a:r>
                      <a:endParaRPr lang="en-US" sz="1000" b="0" i="0" u="none" strike="noStrike">
                        <a:solidFill>
                          <a:srgbClr val="333333"/>
                        </a:solidFill>
                        <a:effectLst/>
                        <a:latin typeface="Arial"/>
                      </a:endParaRPr>
                    </a:p>
                  </a:txBody>
                  <a:tcPr marL="6738" marR="6738" marT="6738" marB="0">
                    <a:solidFill>
                      <a:schemeClr val="accent1">
                        <a:tint val="20000"/>
                      </a:schemeClr>
                    </a:solidFill>
                  </a:tcPr>
                </a:tc>
              </a:tr>
              <a:tr h="375113">
                <a:tc>
                  <a:txBody>
                    <a:bodyPr/>
                    <a:lstStyle/>
                    <a:p>
                      <a:pPr algn="l" fontAlgn="t"/>
                      <a:r>
                        <a:rPr lang="en-US" sz="1000" u="none" strike="noStrike">
                          <a:effectLst/>
                        </a:rPr>
                        <a:t>0.00100000 Bitcoin</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100,000</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Subunit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One Hundred KiloBit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100 kXBT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mBTC, millibit</a:t>
                      </a:r>
                      <a:endParaRPr lang="en-US" sz="1000" b="0" i="0" u="none" strike="noStrike">
                        <a:solidFill>
                          <a:srgbClr val="333333"/>
                        </a:solidFill>
                        <a:effectLst/>
                        <a:latin typeface="Arial"/>
                      </a:endParaRPr>
                    </a:p>
                  </a:txBody>
                  <a:tcPr marL="6738" marR="6738" marT="6738" marB="0">
                    <a:solidFill>
                      <a:schemeClr val="accent1">
                        <a:tint val="20000"/>
                      </a:schemeClr>
                    </a:solidFill>
                  </a:tcPr>
                </a:tc>
              </a:tr>
              <a:tr h="375113">
                <a:tc>
                  <a:txBody>
                    <a:bodyPr/>
                    <a:lstStyle/>
                    <a:p>
                      <a:pPr algn="l" fontAlgn="t"/>
                      <a:r>
                        <a:rPr lang="en-US" sz="1000" u="none" strike="noStrike">
                          <a:effectLst/>
                        </a:rPr>
                        <a:t>0.00010000 Bitcoin</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10,000</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Subunit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Ten KiloBit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10 kXBT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 </a:t>
                      </a:r>
                      <a:endParaRPr lang="en-US" sz="1000" b="0" i="0" u="none" strike="noStrike">
                        <a:solidFill>
                          <a:srgbClr val="333333"/>
                        </a:solidFill>
                        <a:effectLst/>
                        <a:latin typeface="Arial"/>
                      </a:endParaRPr>
                    </a:p>
                  </a:txBody>
                  <a:tcPr marL="6738" marR="6738" marT="6738" marB="0">
                    <a:solidFill>
                      <a:schemeClr val="accent1">
                        <a:tint val="20000"/>
                      </a:schemeClr>
                    </a:solidFill>
                  </a:tcPr>
                </a:tc>
              </a:tr>
              <a:tr h="375113">
                <a:tc>
                  <a:txBody>
                    <a:bodyPr/>
                    <a:lstStyle/>
                    <a:p>
                      <a:pPr algn="l" fontAlgn="t"/>
                      <a:r>
                        <a:rPr lang="en-US" sz="1000" u="none" strike="noStrike">
                          <a:effectLst/>
                        </a:rPr>
                        <a:t>0.00001000 Bitcoin</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1,000</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Subunit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One KiloBit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1 kXBT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 </a:t>
                      </a:r>
                      <a:endParaRPr lang="en-US" sz="1000" b="0" i="0" u="none" strike="noStrike">
                        <a:solidFill>
                          <a:srgbClr val="333333"/>
                        </a:solidFill>
                        <a:effectLst/>
                        <a:latin typeface="Arial"/>
                      </a:endParaRPr>
                    </a:p>
                  </a:txBody>
                  <a:tcPr marL="6738" marR="6738" marT="6738" marB="0">
                    <a:solidFill>
                      <a:schemeClr val="accent1">
                        <a:tint val="20000"/>
                      </a:schemeClr>
                    </a:solidFill>
                  </a:tcPr>
                </a:tc>
              </a:tr>
              <a:tr h="375113">
                <a:tc>
                  <a:txBody>
                    <a:bodyPr/>
                    <a:lstStyle/>
                    <a:p>
                      <a:pPr algn="l" fontAlgn="t"/>
                      <a:r>
                        <a:rPr lang="en-US" sz="1000" u="none" strike="noStrike">
                          <a:effectLst/>
                        </a:rPr>
                        <a:t>0.00000100 Bitcoin</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100</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Subunit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One Hundred Bit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100 bXBT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uBTC, microbit</a:t>
                      </a:r>
                      <a:endParaRPr lang="en-US" sz="1000" b="0" i="0" u="none" strike="noStrike">
                        <a:solidFill>
                          <a:srgbClr val="333333"/>
                        </a:solidFill>
                        <a:effectLst/>
                        <a:latin typeface="Arial"/>
                      </a:endParaRPr>
                    </a:p>
                  </a:txBody>
                  <a:tcPr marL="6738" marR="6738" marT="6738" marB="0">
                    <a:solidFill>
                      <a:schemeClr val="accent1">
                        <a:tint val="20000"/>
                      </a:schemeClr>
                    </a:solidFill>
                  </a:tcPr>
                </a:tc>
              </a:tr>
              <a:tr h="375113">
                <a:tc>
                  <a:txBody>
                    <a:bodyPr/>
                    <a:lstStyle/>
                    <a:p>
                      <a:pPr algn="l" fontAlgn="t"/>
                      <a:r>
                        <a:rPr lang="en-US" sz="1000" u="none" strike="noStrike">
                          <a:effectLst/>
                        </a:rPr>
                        <a:t>0.00000010 Bitcoin</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10</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Subunit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Ten Bit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10 bXBT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 </a:t>
                      </a:r>
                      <a:endParaRPr lang="en-US" sz="1000" b="0" i="0" u="none" strike="noStrike">
                        <a:solidFill>
                          <a:srgbClr val="333333"/>
                        </a:solidFill>
                        <a:effectLst/>
                        <a:latin typeface="Arial"/>
                      </a:endParaRPr>
                    </a:p>
                  </a:txBody>
                  <a:tcPr marL="6738" marR="6738" marT="6738" marB="0">
                    <a:solidFill>
                      <a:schemeClr val="accent1">
                        <a:tint val="20000"/>
                      </a:schemeClr>
                    </a:solidFill>
                  </a:tcPr>
                </a:tc>
              </a:tr>
              <a:tr h="367458">
                <a:tc>
                  <a:txBody>
                    <a:bodyPr/>
                    <a:lstStyle/>
                    <a:p>
                      <a:pPr algn="l" fontAlgn="t"/>
                      <a:r>
                        <a:rPr lang="en-US" sz="1000" u="none" strike="noStrike">
                          <a:effectLst/>
                        </a:rPr>
                        <a:t>0.00000001 Bitcoin</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1</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Subunit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One Bit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a:effectLst/>
                        </a:rPr>
                        <a:t>1 bXBT</a:t>
                      </a:r>
                      <a:endParaRPr lang="en-US" sz="1000" b="0" i="0" u="none" strike="noStrike">
                        <a:solidFill>
                          <a:srgbClr val="333333"/>
                        </a:solidFill>
                        <a:effectLst/>
                        <a:latin typeface="Arial"/>
                      </a:endParaRPr>
                    </a:p>
                  </a:txBody>
                  <a:tcPr marL="6738" marR="6738" marT="6738" marB="0">
                    <a:solidFill>
                      <a:schemeClr val="accent1">
                        <a:tint val="20000"/>
                      </a:schemeClr>
                    </a:solidFill>
                  </a:tcPr>
                </a:tc>
                <a:tc>
                  <a:txBody>
                    <a:bodyPr/>
                    <a:lstStyle/>
                    <a:p>
                      <a:pPr algn="l" fontAlgn="t"/>
                      <a:r>
                        <a:rPr lang="en-US" sz="1000" u="none" strike="noStrike" dirty="0">
                          <a:effectLst/>
                        </a:rPr>
                        <a:t>Satoshi</a:t>
                      </a:r>
                      <a:endParaRPr lang="en-US" sz="1000" b="0" i="0" u="none" strike="noStrike" dirty="0">
                        <a:solidFill>
                          <a:srgbClr val="333333"/>
                        </a:solidFill>
                        <a:effectLst/>
                        <a:latin typeface="Arial"/>
                      </a:endParaRPr>
                    </a:p>
                  </a:txBody>
                  <a:tcPr marL="6738" marR="6738" marT="6738" marB="0">
                    <a:solidFill>
                      <a:schemeClr val="accent1">
                        <a:tint val="20000"/>
                      </a:schemeClr>
                    </a:solidFill>
                  </a:tcPr>
                </a:tc>
              </a:tr>
            </a:tbl>
          </a:graphicData>
        </a:graphic>
      </p:graphicFrame>
    </p:spTree>
    <p:extLst>
      <p:ext uri="{BB962C8B-B14F-4D97-AF65-F5344CB8AC3E}">
        <p14:creationId xmlns:p14="http://schemas.microsoft.com/office/powerpoint/2010/main" val="259443087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26</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Bitcoin Adres</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1"/>
          <p:cNvSpPr>
            <a:spLocks noChangeArrowheads="1"/>
          </p:cNvSpPr>
          <p:nvPr/>
        </p:nvSpPr>
        <p:spPr bwMode="auto">
          <a:xfrm>
            <a:off x="1547664" y="1700808"/>
            <a:ext cx="6552728" cy="625732"/>
          </a:xfrm>
          <a:prstGeom prst="rect">
            <a:avLst/>
          </a:prstGeom>
          <a:solidFill>
            <a:srgbClr val="FBFBF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1740" tIns="126960" rIns="0" bIns="12696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4A3C31"/>
                </a:solidFill>
                <a:effectLst/>
                <a:latin typeface="Courier New" pitchFamily="49" charset="0"/>
                <a:cs typeface="Courier New" pitchFamily="49" charset="0"/>
              </a:rPr>
              <a:t>13tQ1fbTMB6GxUJfMqCSDgivc8fvkHEh3J</a:t>
            </a:r>
            <a:r>
              <a:rPr kumimoji="0" lang="en-US" altLang="en-US" sz="2400" b="0" i="0" u="none" strike="noStrike" cap="none" normalizeH="0" baseline="0" dirty="0" smtClean="0">
                <a:ln>
                  <a:noFill/>
                </a:ln>
                <a:solidFill>
                  <a:schemeClr val="tx1"/>
                </a:solidFill>
                <a:effectLst/>
                <a:latin typeface="Arial" pitchFamily="34" charset="0"/>
                <a:cs typeface="Arial" pitchFamily="34" charset="0"/>
              </a:rPr>
              <a:t> </a:t>
            </a:r>
          </a:p>
        </p:txBody>
      </p:sp>
      <p:pic>
        <p:nvPicPr>
          <p:cNvPr id="2051" name="Picture 3" descr="https://www.safaribooksonline.com/library/view/bitcoin-for-the/9781457188343/graphics/f02-0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696" y="2996953"/>
            <a:ext cx="5837076" cy="3128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371140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27</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Cüzdan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1489349" y="1540693"/>
            <a:ext cx="3544312" cy="523220"/>
          </a:xfrm>
          <a:prstGeom prst="rect">
            <a:avLst/>
          </a:prstGeom>
        </p:spPr>
        <p:txBody>
          <a:bodyPr wrap="square">
            <a:spAutoFit/>
          </a:bodyPr>
          <a:lstStyle/>
          <a:p>
            <a:r>
              <a:rPr lang="tr-TR" sz="2800" dirty="0" smtClean="0"/>
              <a:t>Ahmet’in</a:t>
            </a:r>
            <a:r>
              <a:rPr lang="en-US" sz="2800" dirty="0" smtClean="0"/>
              <a:t> </a:t>
            </a:r>
            <a:r>
              <a:rPr lang="en-US" sz="2800" dirty="0"/>
              <a:t>public key:</a:t>
            </a:r>
          </a:p>
        </p:txBody>
      </p:sp>
      <p:sp>
        <p:nvSpPr>
          <p:cNvPr id="4" name="Rectangle 2"/>
          <p:cNvSpPr>
            <a:spLocks noChangeArrowheads="1"/>
          </p:cNvSpPr>
          <p:nvPr/>
        </p:nvSpPr>
        <p:spPr bwMode="auto">
          <a:xfrm>
            <a:off x="1489348" y="2088660"/>
            <a:ext cx="6165304" cy="564176"/>
          </a:xfrm>
          <a:prstGeom prst="rect">
            <a:avLst/>
          </a:prstGeom>
          <a:solidFill>
            <a:srgbClr val="FBFBF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1740" tIns="126960" rIns="0" bIns="126960" numCol="1" anchor="ctr" anchorCtr="0" compatLnSpc="1">
            <a:prstTxWarp prst="textNoShape">
              <a:avLst/>
            </a:prstTxWarp>
            <a:spAutoFit/>
          </a:bodyPr>
          <a:lstStyle/>
          <a:p>
            <a:pPr lvl="0"/>
            <a:r>
              <a:rPr lang="en-US" altLang="en-US" sz="2000" dirty="0">
                <a:solidFill>
                  <a:srgbClr val="4A3C31"/>
                </a:solidFill>
                <a:latin typeface="Courier New" pitchFamily="49" charset="0"/>
                <a:cs typeface="Courier New" pitchFamily="49" charset="0"/>
              </a:rPr>
              <a:t>1LdZhahiV6vmypkRHFZCeLvAoSgPxe7RPj</a:t>
            </a:r>
            <a:r>
              <a:rPr kumimoji="0" lang="en-US" altLang="en-US" sz="2000" b="0" i="0" u="none" strike="noStrike" cap="none" normalizeH="0" baseline="0" dirty="0" smtClean="0">
                <a:ln>
                  <a:noFill/>
                </a:ln>
                <a:solidFill>
                  <a:schemeClr val="tx1"/>
                </a:solidFill>
                <a:effectLst/>
                <a:latin typeface="Arial" pitchFamily="34" charset="0"/>
                <a:cs typeface="Arial" pitchFamily="34" charset="0"/>
              </a:rPr>
              <a:t> </a:t>
            </a:r>
          </a:p>
        </p:txBody>
      </p:sp>
      <p:sp>
        <p:nvSpPr>
          <p:cNvPr id="6" name="Rectangle 5"/>
          <p:cNvSpPr/>
          <p:nvPr/>
        </p:nvSpPr>
        <p:spPr>
          <a:xfrm>
            <a:off x="1495645" y="2782669"/>
            <a:ext cx="6159007" cy="369332"/>
          </a:xfrm>
          <a:prstGeom prst="rect">
            <a:avLst/>
          </a:prstGeom>
        </p:spPr>
        <p:txBody>
          <a:bodyPr wrap="square">
            <a:spAutoFit/>
          </a:bodyPr>
          <a:lstStyle/>
          <a:p>
            <a:r>
              <a:rPr lang="tr-TR" dirty="0" smtClean="0"/>
              <a:t>Bitcoin Gönderen Mesaj</a:t>
            </a:r>
            <a:endParaRPr lang="en-US" dirty="0"/>
          </a:p>
        </p:txBody>
      </p:sp>
      <p:sp>
        <p:nvSpPr>
          <p:cNvPr id="8" name="Rectangle 3"/>
          <p:cNvSpPr>
            <a:spLocks noChangeArrowheads="1"/>
          </p:cNvSpPr>
          <p:nvPr/>
        </p:nvSpPr>
        <p:spPr bwMode="auto">
          <a:xfrm>
            <a:off x="1495645" y="3152001"/>
            <a:ext cx="7107305" cy="1179729"/>
          </a:xfrm>
          <a:prstGeom prst="rect">
            <a:avLst/>
          </a:prstGeom>
          <a:solidFill>
            <a:srgbClr val="FBFBF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1740" tIns="126960" rIns="0" bIns="12696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altLang="en-US" sz="2000" b="0" i="0" u="none" strike="noStrike" cap="none" normalizeH="0" baseline="0" dirty="0" smtClean="0">
                <a:ln>
                  <a:noFill/>
                </a:ln>
                <a:solidFill>
                  <a:srgbClr val="4A3C31"/>
                </a:solidFill>
                <a:effectLst/>
                <a:latin typeface="Courier New" pitchFamily="49" charset="0"/>
                <a:cs typeface="Courier New" pitchFamily="49" charset="0"/>
              </a:rPr>
              <a:t>Ben Ender,</a:t>
            </a:r>
            <a:r>
              <a:rPr kumimoji="0" lang="tr-TR" altLang="en-US" sz="2000" b="0" i="0" u="none" strike="noStrike" cap="none" normalizeH="0" dirty="0" smtClean="0">
                <a:ln>
                  <a:noFill/>
                </a:ln>
                <a:solidFill>
                  <a:srgbClr val="4A3C31"/>
                </a:solidFill>
                <a:effectLst/>
                <a:latin typeface="Courier New" pitchFamily="49" charset="0"/>
                <a:cs typeface="Courier New" pitchFamily="49" charset="0"/>
              </a:rPr>
              <a:t> 1 bitcoin göderiyorum Ahmetin adresine</a:t>
            </a:r>
            <a:r>
              <a:rPr kumimoji="0" lang="en-US" altLang="en-US" sz="2000" b="0" i="0" u="none" strike="noStrike" cap="none" normalizeH="0" baseline="0" dirty="0" smtClean="0">
                <a:ln>
                  <a:noFill/>
                </a:ln>
                <a:solidFill>
                  <a:srgbClr val="4A3C31"/>
                </a:solidFill>
                <a:effectLst/>
                <a:latin typeface="Courier New" pitchFamily="49" charset="0"/>
                <a:cs typeface="Courier New" pitchFamily="49" charset="0"/>
              </a:rPr>
              <a:t/>
            </a:r>
            <a:br>
              <a:rPr kumimoji="0" lang="en-US" altLang="en-US" sz="2000" b="0" i="0" u="none" strike="noStrike" cap="none" normalizeH="0" baseline="0" dirty="0" smtClean="0">
                <a:ln>
                  <a:noFill/>
                </a:ln>
                <a:solidFill>
                  <a:srgbClr val="4A3C31"/>
                </a:solidFill>
                <a:effectLst/>
                <a:latin typeface="Courier New" pitchFamily="49" charset="0"/>
                <a:cs typeface="Courier New" pitchFamily="49" charset="0"/>
              </a:rPr>
            </a:br>
            <a:r>
              <a:rPr kumimoji="0" lang="en-US" altLang="en-US" sz="2000" b="0" i="0" u="none" strike="noStrike" cap="none" normalizeH="0" baseline="0" dirty="0" smtClean="0">
                <a:ln>
                  <a:noFill/>
                </a:ln>
                <a:solidFill>
                  <a:srgbClr val="4A3C31"/>
                </a:solidFill>
                <a:effectLst/>
                <a:latin typeface="Courier New" pitchFamily="49" charset="0"/>
                <a:cs typeface="Courier New" pitchFamily="49" charset="0"/>
              </a:rPr>
              <a:t>1LdZhahiV6vmypkRHFZCeLvAoSgPxe7RPj.</a:t>
            </a:r>
            <a:r>
              <a:rPr kumimoji="0" lang="en-US" altLang="en-US" sz="2000" b="0" i="0" u="none" strike="noStrike" cap="none" normalizeH="0" baseline="0" dirty="0" smtClean="0">
                <a:ln>
                  <a:noFill/>
                </a:ln>
                <a:solidFill>
                  <a:schemeClr val="tx1"/>
                </a:solidFill>
                <a:effectLst/>
                <a:latin typeface="Arial" pitchFamily="34" charset="0"/>
                <a:cs typeface="Arial" pitchFamily="34" charset="0"/>
              </a:rPr>
              <a:t> </a:t>
            </a:r>
          </a:p>
        </p:txBody>
      </p:sp>
      <p:sp>
        <p:nvSpPr>
          <p:cNvPr id="9" name="Rectangle 8"/>
          <p:cNvSpPr/>
          <p:nvPr/>
        </p:nvSpPr>
        <p:spPr>
          <a:xfrm>
            <a:off x="1653692" y="4585511"/>
            <a:ext cx="6924961" cy="369332"/>
          </a:xfrm>
          <a:prstGeom prst="rect">
            <a:avLst/>
          </a:prstGeom>
        </p:spPr>
        <p:txBody>
          <a:bodyPr wrap="square">
            <a:spAutoFit/>
          </a:bodyPr>
          <a:lstStyle/>
          <a:p>
            <a:r>
              <a:rPr lang="tr-TR" dirty="0" smtClean="0"/>
              <a:t>Aşağıda ki de Digital İmza</a:t>
            </a:r>
            <a:endParaRPr lang="en-US" dirty="0"/>
          </a:p>
        </p:txBody>
      </p:sp>
      <p:sp>
        <p:nvSpPr>
          <p:cNvPr id="10" name="Rectangle 4"/>
          <p:cNvSpPr>
            <a:spLocks noChangeArrowheads="1"/>
          </p:cNvSpPr>
          <p:nvPr/>
        </p:nvSpPr>
        <p:spPr bwMode="auto">
          <a:xfrm>
            <a:off x="1495645" y="5259977"/>
            <a:ext cx="7180810" cy="871953"/>
          </a:xfrm>
          <a:prstGeom prst="rect">
            <a:avLst/>
          </a:prstGeom>
          <a:solidFill>
            <a:srgbClr val="FBFBF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1740" tIns="126960" rIns="0" bIns="12696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4A3C31"/>
                </a:solidFill>
                <a:effectLst/>
                <a:latin typeface="Courier New" pitchFamily="49" charset="0"/>
                <a:cs typeface="Courier New" pitchFamily="49" charset="0"/>
              </a:rPr>
              <a:t>HoiD8JtaV271iZGDP1znkUFxzZRvVXdFFHthGaTg50Or</a:t>
            </a:r>
            <a:br>
              <a:rPr kumimoji="0" lang="en-US" altLang="en-US" sz="2000" b="0" i="0" u="none" strike="noStrike" cap="none" normalizeH="0" baseline="0" dirty="0" smtClean="0">
                <a:ln>
                  <a:noFill/>
                </a:ln>
                <a:solidFill>
                  <a:srgbClr val="4A3C31"/>
                </a:solidFill>
                <a:effectLst/>
                <a:latin typeface="Courier New" pitchFamily="49" charset="0"/>
                <a:cs typeface="Courier New" pitchFamily="49" charset="0"/>
              </a:rPr>
            </a:br>
            <a:r>
              <a:rPr kumimoji="0" lang="en-US" altLang="en-US" sz="2000" b="0" i="0" u="none" strike="noStrike" cap="none" normalizeH="0" baseline="0" dirty="0" smtClean="0">
                <a:ln>
                  <a:noFill/>
                </a:ln>
                <a:solidFill>
                  <a:srgbClr val="4A3C31"/>
                </a:solidFill>
                <a:effectLst/>
                <a:latin typeface="Courier New" pitchFamily="49" charset="0"/>
                <a:cs typeface="Courier New" pitchFamily="49" charset="0"/>
              </a:rPr>
              <a:t>EpFvy8OW3kqOwHyiUmbOVNiZSeieL8ZyhmXl2/GBR0E=</a:t>
            </a:r>
            <a:r>
              <a:rPr kumimoji="0" lang="en-US" altLang="en-US" sz="2000" b="0" i="0" u="none" strike="noStrike" cap="none" normalizeH="0" baseline="0" dirty="0" smtClean="0">
                <a:ln>
                  <a:noFill/>
                </a:ln>
                <a:solidFill>
                  <a:schemeClr val="tx1"/>
                </a:solidFill>
                <a:effectLst/>
                <a:latin typeface="Arial" pitchFamily="34" charset="0"/>
                <a:cs typeface="Arial" pitchFamily="34" charset="0"/>
              </a:rPr>
              <a:t> </a:t>
            </a:r>
          </a:p>
        </p:txBody>
      </p:sp>
    </p:spTree>
    <p:extLst>
      <p:ext uri="{BB962C8B-B14F-4D97-AF65-F5344CB8AC3E}">
        <p14:creationId xmlns:p14="http://schemas.microsoft.com/office/powerpoint/2010/main" val="198357812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28</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Cüzdan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691680" y="1571625"/>
            <a:ext cx="7128792" cy="4401205"/>
          </a:xfrm>
          <a:prstGeom prst="rect">
            <a:avLst/>
          </a:prstGeom>
        </p:spPr>
        <p:txBody>
          <a:bodyPr wrap="square">
            <a:spAutoFit/>
          </a:bodyPr>
          <a:lstStyle/>
          <a:p>
            <a:r>
              <a:rPr lang="tr-TR" sz="2800" b="1" dirty="0" smtClean="0"/>
              <a:t>1. Eğer bir kişi public keye sahipse private keye sahip kişinin açabileceği bir mesaj yazabilir. Buna public key encryption diyoruz.</a:t>
            </a:r>
          </a:p>
          <a:p>
            <a:pPr marL="457200" indent="-457200">
              <a:buAutoNum type="arabicPeriod"/>
            </a:pPr>
            <a:endParaRPr lang="en-US" sz="2800" b="1" dirty="0"/>
          </a:p>
          <a:p>
            <a:r>
              <a:rPr lang="en-US" sz="2800" b="1" dirty="0"/>
              <a:t>2. </a:t>
            </a:r>
            <a:r>
              <a:rPr lang="tr-TR" sz="2800" b="1" dirty="0" smtClean="0"/>
              <a:t>Eğer bir kişi private keye sahipse hiç kimse o mesajı değiştiremez, çünkü public key ile kolayca mesajın orginal olup olmadığı anlaşılır. Buna digital imza diyoruz.</a:t>
            </a:r>
            <a:r>
              <a:rPr lang="en-US" sz="2800" b="1" dirty="0" smtClean="0"/>
              <a:t> </a:t>
            </a:r>
            <a:endParaRPr lang="en-US" sz="2800" b="1" dirty="0"/>
          </a:p>
        </p:txBody>
      </p:sp>
    </p:spTree>
    <p:extLst>
      <p:ext uri="{BB962C8B-B14F-4D97-AF65-F5344CB8AC3E}">
        <p14:creationId xmlns:p14="http://schemas.microsoft.com/office/powerpoint/2010/main" val="322888786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29</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Bitcoin Adres</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2483768" y="2132856"/>
            <a:ext cx="4536504" cy="2308324"/>
          </a:xfrm>
          <a:prstGeom prst="rect">
            <a:avLst/>
          </a:prstGeom>
        </p:spPr>
        <p:txBody>
          <a:bodyPr wrap="square">
            <a:spAutoFit/>
          </a:bodyPr>
          <a:lstStyle/>
          <a:p>
            <a:r>
              <a:rPr lang="en-US" dirty="0">
                <a:hlinkClick r:id="rId4"/>
              </a:rPr>
              <a:t>https://</a:t>
            </a:r>
            <a:r>
              <a:rPr lang="en-US" dirty="0" smtClean="0">
                <a:hlinkClick r:id="rId4"/>
              </a:rPr>
              <a:t>electrum.org</a:t>
            </a:r>
            <a:endParaRPr lang="tr-TR" dirty="0" smtClean="0"/>
          </a:p>
          <a:p>
            <a:endParaRPr lang="tr-TR" dirty="0"/>
          </a:p>
          <a:p>
            <a:r>
              <a:rPr lang="en-US" dirty="0">
                <a:hlinkClick r:id="rId5"/>
              </a:rPr>
              <a:t>https://</a:t>
            </a:r>
            <a:r>
              <a:rPr lang="en-US" dirty="0" smtClean="0">
                <a:hlinkClick r:id="rId5"/>
              </a:rPr>
              <a:t>www.bitaddress.org</a:t>
            </a:r>
            <a:endParaRPr lang="tr-TR" dirty="0" smtClean="0"/>
          </a:p>
          <a:p>
            <a:endParaRPr lang="tr-TR" dirty="0"/>
          </a:p>
          <a:p>
            <a:r>
              <a:rPr lang="en-US" dirty="0">
                <a:hlinkClick r:id="rId6"/>
              </a:rPr>
              <a:t>https://testnet.coinfaucet.eu/en</a:t>
            </a:r>
            <a:r>
              <a:rPr lang="en-US" dirty="0" smtClean="0">
                <a:hlinkClick r:id="rId6"/>
              </a:rPr>
              <a:t>/</a:t>
            </a:r>
            <a:endParaRPr lang="tr-TR" dirty="0" smtClean="0"/>
          </a:p>
          <a:p>
            <a:endParaRPr lang="tr-TR" dirty="0"/>
          </a:p>
          <a:p>
            <a:r>
              <a:rPr lang="en-US" dirty="0">
                <a:hlinkClick r:id="rId7"/>
              </a:rPr>
              <a:t>https://</a:t>
            </a:r>
            <a:r>
              <a:rPr lang="en-US" dirty="0" smtClean="0">
                <a:hlinkClick r:id="rId7"/>
              </a:rPr>
              <a:t>chain.so/testnet/btc</a:t>
            </a:r>
            <a:endParaRPr lang="tr-TR" dirty="0" smtClean="0"/>
          </a:p>
          <a:p>
            <a:endParaRPr lang="en-US" dirty="0"/>
          </a:p>
        </p:txBody>
      </p:sp>
    </p:spTree>
    <p:extLst>
      <p:ext uri="{BB962C8B-B14F-4D97-AF65-F5344CB8AC3E}">
        <p14:creationId xmlns:p14="http://schemas.microsoft.com/office/powerpoint/2010/main" val="188968816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30</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Bitcoin Private Key</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a:spLocks noChangeArrowheads="1"/>
          </p:cNvSpPr>
          <p:nvPr/>
        </p:nvSpPr>
        <p:spPr bwMode="auto">
          <a:xfrm>
            <a:off x="1411634" y="1700808"/>
            <a:ext cx="7606605" cy="533399"/>
          </a:xfrm>
          <a:prstGeom prst="rect">
            <a:avLst/>
          </a:prstGeom>
          <a:solidFill>
            <a:srgbClr val="FBFBF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1740" tIns="126960" rIns="0" bIns="12696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4A3C31"/>
                </a:solidFill>
                <a:effectLst/>
                <a:latin typeface="Courier New" pitchFamily="49" charset="0"/>
                <a:cs typeface="Courier New" pitchFamily="49" charset="0"/>
              </a:rPr>
              <a:t>5J2ae37Jwqzt7kSp9rE17Mi2LbkHXx4tzNSzbq7xDp2cQJCzhYo</a:t>
            </a:r>
            <a:r>
              <a:rPr kumimoji="0" lang="en-US" altLang="en-US" b="0" i="0" u="none" strike="noStrike" cap="none" normalizeH="0" baseline="0" dirty="0" smtClean="0">
                <a:ln>
                  <a:noFill/>
                </a:ln>
                <a:solidFill>
                  <a:schemeClr val="tx1"/>
                </a:solidFill>
                <a:effectLst/>
                <a:latin typeface="Arial" pitchFamily="34" charset="0"/>
                <a:cs typeface="Arial" pitchFamily="34" charset="0"/>
              </a:rPr>
              <a:t> </a:t>
            </a:r>
          </a:p>
        </p:txBody>
      </p:sp>
      <p:pic>
        <p:nvPicPr>
          <p:cNvPr id="3075" name="Picture 3" descr="https://www.safaribooksonline.com/library/view/bitcoin-for-the/9781457188343/graphics/f02-0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4227" y="2237039"/>
            <a:ext cx="6696744" cy="346498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763687" y="5919135"/>
            <a:ext cx="4262705" cy="369332"/>
          </a:xfrm>
          <a:prstGeom prst="rect">
            <a:avLst/>
          </a:prstGeom>
        </p:spPr>
        <p:txBody>
          <a:bodyPr wrap="none">
            <a:spAutoFit/>
          </a:bodyPr>
          <a:lstStyle/>
          <a:p>
            <a:r>
              <a:rPr lang="en-US" dirty="0"/>
              <a:t>https://bitcoin.org/en/choose-your-wallet</a:t>
            </a:r>
          </a:p>
        </p:txBody>
      </p:sp>
    </p:spTree>
    <p:extLst>
      <p:ext uri="{BB962C8B-B14F-4D97-AF65-F5344CB8AC3E}">
        <p14:creationId xmlns:p14="http://schemas.microsoft.com/office/powerpoint/2010/main" val="283857399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31</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Cüzdan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583530" y="1571625"/>
            <a:ext cx="7262813" cy="462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709448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32</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Cüzdan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403648" y="1600200"/>
            <a:ext cx="7488831" cy="465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395019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33</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Cüzdan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Documents and Settings\Roman\Desktop\untitled2.bmp"/>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619249" y="1571625"/>
            <a:ext cx="7191376" cy="4638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479092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34</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Cüzdan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8" name="Picture 2" descr="image"/>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403648" y="1700807"/>
            <a:ext cx="6543675" cy="4835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704160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35</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Bitcoin Almak</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2" name="Picture 2" descr="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2564904"/>
            <a:ext cx="6413751" cy="316835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698442" y="1756291"/>
            <a:ext cx="6545965" cy="523220"/>
          </a:xfrm>
          <a:prstGeom prst="rect">
            <a:avLst/>
          </a:prstGeom>
        </p:spPr>
        <p:txBody>
          <a:bodyPr wrap="square">
            <a:spAutoFit/>
          </a:bodyPr>
          <a:lstStyle/>
          <a:p>
            <a:r>
              <a:rPr lang="tr-TR" sz="2800" b="1" dirty="0" smtClean="0"/>
              <a:t>Aracı Kurumlar, Örneğin Paypal</a:t>
            </a:r>
            <a:endParaRPr lang="en-US" sz="2800" b="1" dirty="0"/>
          </a:p>
        </p:txBody>
      </p:sp>
    </p:spTree>
    <p:extLst>
      <p:ext uri="{BB962C8B-B14F-4D97-AF65-F5344CB8AC3E}">
        <p14:creationId xmlns:p14="http://schemas.microsoft.com/office/powerpoint/2010/main" val="231966536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36</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Bitcoin Almak</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698442" y="1756291"/>
            <a:ext cx="6545965" cy="523220"/>
          </a:xfrm>
          <a:prstGeom prst="rect">
            <a:avLst/>
          </a:prstGeom>
        </p:spPr>
        <p:txBody>
          <a:bodyPr wrap="square">
            <a:spAutoFit/>
          </a:bodyPr>
          <a:lstStyle/>
          <a:p>
            <a:r>
              <a:rPr lang="tr-TR" sz="2800" b="1" dirty="0" smtClean="0"/>
              <a:t>Döviz Büroları, Örneğin Coinbase</a:t>
            </a:r>
            <a:endParaRPr lang="en-US" sz="2800" b="1" dirty="0"/>
          </a:p>
        </p:txBody>
      </p:sp>
      <p:pic>
        <p:nvPicPr>
          <p:cNvPr id="276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2852936"/>
            <a:ext cx="5904656" cy="2571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5850644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37</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Bitcoin Almak</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1698442" y="1756291"/>
            <a:ext cx="6545965" cy="523220"/>
          </a:xfrm>
          <a:prstGeom prst="rect">
            <a:avLst/>
          </a:prstGeom>
        </p:spPr>
        <p:txBody>
          <a:bodyPr wrap="square">
            <a:spAutoFit/>
          </a:bodyPr>
          <a:lstStyle/>
          <a:p>
            <a:r>
              <a:rPr lang="tr-TR" sz="2800" b="1" dirty="0" smtClean="0"/>
              <a:t>Zevkli Yol, Arkadaşından</a:t>
            </a:r>
            <a:endParaRPr lang="en-US" sz="2800" b="1" dirty="0"/>
          </a:p>
        </p:txBody>
      </p:sp>
      <p:pic>
        <p:nvPicPr>
          <p:cNvPr id="6148" name="Picture 4" descr="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8442" y="2636912"/>
            <a:ext cx="6833998" cy="3143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281373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38</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Güven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475656" y="1571624"/>
            <a:ext cx="6768752" cy="830997"/>
          </a:xfrm>
          <a:prstGeom prst="rect">
            <a:avLst/>
          </a:prstGeom>
        </p:spPr>
        <p:txBody>
          <a:bodyPr wrap="square">
            <a:spAutoFit/>
          </a:bodyPr>
          <a:lstStyle/>
          <a:p>
            <a:r>
              <a:rPr lang="tr-TR" sz="4800" dirty="0" smtClean="0"/>
              <a:t>Bitcoin Güvenilir mi?</a:t>
            </a:r>
            <a:endParaRPr lang="en-US" sz="4800" dirty="0"/>
          </a:p>
        </p:txBody>
      </p:sp>
    </p:spTree>
    <p:extLst>
      <p:ext uri="{BB962C8B-B14F-4D97-AF65-F5344CB8AC3E}">
        <p14:creationId xmlns:p14="http://schemas.microsoft.com/office/powerpoint/2010/main" val="384852914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39</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Güven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475656" y="1571625"/>
            <a:ext cx="7416824" cy="4401205"/>
          </a:xfrm>
          <a:prstGeom prst="rect">
            <a:avLst/>
          </a:prstGeom>
        </p:spPr>
        <p:txBody>
          <a:bodyPr wrap="square">
            <a:spAutoFit/>
          </a:bodyPr>
          <a:lstStyle/>
          <a:p>
            <a:r>
              <a:rPr lang="en-US" sz="2800" dirty="0"/>
              <a:t>I think that the Internet is going to be one of the major forces for reducing the role of government. The one thing that’s missing, but that will soon be developed, is a reliable e-cash. A method whereby, on the Internet, you can transfer funds from A to B, without A knowing B or B knowing A.</a:t>
            </a:r>
          </a:p>
          <a:p>
            <a:r>
              <a:rPr lang="en-US" sz="2800" dirty="0"/>
              <a:t>—Milton Friedman, American economist and Nobel laureate, 1999 interview conducted by the National Taxpayers Union </a:t>
            </a:r>
            <a:r>
              <a:rPr lang="en-US" sz="2800" dirty="0" smtClean="0"/>
              <a:t>Foundation</a:t>
            </a:r>
            <a:endParaRPr lang="en-US" sz="2800" dirty="0"/>
          </a:p>
        </p:txBody>
      </p:sp>
    </p:spTree>
    <p:extLst>
      <p:ext uri="{BB962C8B-B14F-4D97-AF65-F5344CB8AC3E}">
        <p14:creationId xmlns:p14="http://schemas.microsoft.com/office/powerpoint/2010/main" val="120983575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40</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Güven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541501" y="1434622"/>
            <a:ext cx="7056784" cy="5262979"/>
          </a:xfrm>
          <a:prstGeom prst="rect">
            <a:avLst/>
          </a:prstGeom>
        </p:spPr>
        <p:txBody>
          <a:bodyPr wrap="square">
            <a:spAutoFit/>
          </a:bodyPr>
          <a:lstStyle/>
          <a:p>
            <a:r>
              <a:rPr lang="en-US" sz="2800" dirty="0" smtClean="0"/>
              <a:t>Are </a:t>
            </a:r>
            <a:r>
              <a:rPr lang="en-US" sz="2800" dirty="0"/>
              <a:t>you kidding?! In the future, when people look back at the early days of Bitcoin, they’ll say, “It was so obvious that the ability to move money anywhere, instantly, at near-zero cost would be a huge success.” Bitcoin is to money what the Internet was to communication.</a:t>
            </a:r>
          </a:p>
          <a:p>
            <a:r>
              <a:rPr lang="en-US" sz="2800" dirty="0"/>
              <a:t>—Adam Draper, founder and CEO of Boost, Curt Hopkins’s “Venture Capitalists Take a Chance on the ‘Bitcoin Revolution,’” </a:t>
            </a:r>
            <a:r>
              <a:rPr lang="en-US" sz="2800" i="1" dirty="0"/>
              <a:t>The Daily Dot</a:t>
            </a:r>
            <a:r>
              <a:rPr lang="en-US" sz="2800" dirty="0"/>
              <a:t>, March 19, </a:t>
            </a:r>
            <a:r>
              <a:rPr lang="en-US" sz="2800" dirty="0" smtClean="0"/>
              <a:t>2013</a:t>
            </a:r>
            <a:endParaRPr lang="en-US" sz="2800" dirty="0"/>
          </a:p>
        </p:txBody>
      </p:sp>
    </p:spTree>
    <p:extLst>
      <p:ext uri="{BB962C8B-B14F-4D97-AF65-F5344CB8AC3E}">
        <p14:creationId xmlns:p14="http://schemas.microsoft.com/office/powerpoint/2010/main" val="413003905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41</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Güven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482152" y="1571625"/>
            <a:ext cx="6984776" cy="4832092"/>
          </a:xfrm>
          <a:prstGeom prst="rect">
            <a:avLst/>
          </a:prstGeom>
        </p:spPr>
        <p:txBody>
          <a:bodyPr wrap="square">
            <a:spAutoFit/>
          </a:bodyPr>
          <a:lstStyle/>
          <a:p>
            <a:r>
              <a:rPr lang="en-US" sz="2800" dirty="0" smtClean="0"/>
              <a:t>Stay </a:t>
            </a:r>
            <a:r>
              <a:rPr lang="en-US" sz="2800" dirty="0"/>
              <a:t>away. Bitcoin is a mirage. It’s a method of transmitting money. [...] A check is a way of transmitting money, too. Are checks worth a whole lot of money just because they can transmit money? Are money orders? [...] The idea that it has some huge intrinsic value is just a joke in my view.</a:t>
            </a:r>
          </a:p>
          <a:p>
            <a:r>
              <a:rPr lang="en-US" sz="2800" dirty="0"/>
              <a:t>—Warren Buffett, chair and CEO of Berkshire Hathaway, CNBC’s </a:t>
            </a:r>
            <a:r>
              <a:rPr lang="en-US" sz="2800" i="1" dirty="0"/>
              <a:t>Squawk Box</a:t>
            </a:r>
            <a:r>
              <a:rPr lang="en-US" sz="2800" dirty="0"/>
              <a:t>, March 14, 2014</a:t>
            </a:r>
          </a:p>
        </p:txBody>
      </p:sp>
    </p:spTree>
    <p:extLst>
      <p:ext uri="{BB962C8B-B14F-4D97-AF65-F5344CB8AC3E}">
        <p14:creationId xmlns:p14="http://schemas.microsoft.com/office/powerpoint/2010/main" val="167301370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42</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Güven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1475656" y="1772816"/>
            <a:ext cx="7344816" cy="3970318"/>
          </a:xfrm>
          <a:prstGeom prst="rect">
            <a:avLst/>
          </a:prstGeom>
        </p:spPr>
        <p:txBody>
          <a:bodyPr wrap="square">
            <a:spAutoFit/>
          </a:bodyPr>
          <a:lstStyle/>
          <a:p>
            <a:pPr marL="342900" indent="-342900">
              <a:buFont typeface="+mj-lt"/>
              <a:buAutoNum type="arabicPeriod"/>
            </a:pPr>
            <a:r>
              <a:rPr lang="tr-TR" sz="2800" b="1" dirty="0" smtClean="0"/>
              <a:t>Tarihteki En </a:t>
            </a:r>
            <a:r>
              <a:rPr lang="tr-TR" sz="2800" b="1" dirty="0"/>
              <a:t>D</a:t>
            </a:r>
            <a:r>
              <a:rPr lang="tr-TR" sz="2800" b="1" dirty="0" smtClean="0"/>
              <a:t>üyük </a:t>
            </a:r>
            <a:r>
              <a:rPr lang="en-US" sz="2800" b="1" dirty="0" smtClean="0"/>
              <a:t>Distributed </a:t>
            </a:r>
            <a:r>
              <a:rPr lang="en-US" sz="2800" b="1" dirty="0"/>
              <a:t>Computing </a:t>
            </a:r>
            <a:r>
              <a:rPr lang="tr-TR" sz="2800" b="1" dirty="0" smtClean="0"/>
              <a:t>Projesi</a:t>
            </a:r>
          </a:p>
          <a:p>
            <a:pPr marL="342900" indent="-342900">
              <a:buFont typeface="+mj-lt"/>
              <a:buAutoNum type="arabicPeriod"/>
            </a:pPr>
            <a:endParaRPr lang="tr-TR" sz="2800" b="1" dirty="0"/>
          </a:p>
          <a:p>
            <a:pPr marL="342900" indent="-342900">
              <a:buFont typeface="+mj-lt"/>
              <a:buAutoNum type="arabicPeriod"/>
            </a:pPr>
            <a:r>
              <a:rPr lang="tr-TR" sz="2800" b="1" dirty="0" smtClean="0"/>
              <a:t>Hali Hazırda Süpriz </a:t>
            </a:r>
            <a:r>
              <a:rPr lang="tr-TR" sz="2800" b="1" dirty="0"/>
              <a:t>S</a:t>
            </a:r>
            <a:r>
              <a:rPr lang="tr-TR" sz="2800" b="1" dirty="0" smtClean="0"/>
              <a:t>onuçlara </a:t>
            </a:r>
            <a:r>
              <a:rPr lang="tr-TR" sz="2800" b="1" dirty="0"/>
              <a:t>S</a:t>
            </a:r>
            <a:r>
              <a:rPr lang="tr-TR" sz="2800" b="1" dirty="0" smtClean="0"/>
              <a:t>ahip </a:t>
            </a:r>
            <a:r>
              <a:rPr lang="tr-TR" sz="2800" b="1" dirty="0"/>
              <a:t>T</a:t>
            </a:r>
            <a:r>
              <a:rPr lang="tr-TR" sz="2800" b="1" dirty="0" smtClean="0"/>
              <a:t>arihteki </a:t>
            </a:r>
            <a:r>
              <a:rPr lang="tr-TR" sz="2800" b="1" dirty="0"/>
              <a:t>E</a:t>
            </a:r>
            <a:r>
              <a:rPr lang="tr-TR" sz="2800" b="1" dirty="0" smtClean="0"/>
              <a:t>n </a:t>
            </a:r>
            <a:r>
              <a:rPr lang="tr-TR" sz="2800" b="1" dirty="0"/>
              <a:t>B</a:t>
            </a:r>
            <a:r>
              <a:rPr lang="tr-TR" sz="2800" b="1" dirty="0" smtClean="0"/>
              <a:t>üyük </a:t>
            </a:r>
            <a:r>
              <a:rPr lang="tr-TR" sz="2800" b="1" dirty="0"/>
              <a:t>E</a:t>
            </a:r>
            <a:r>
              <a:rPr lang="tr-TR" sz="2800" b="1" dirty="0" smtClean="0"/>
              <a:t>konomik </a:t>
            </a:r>
            <a:r>
              <a:rPr lang="tr-TR" sz="2800" b="1" dirty="0"/>
              <a:t>D</a:t>
            </a:r>
            <a:r>
              <a:rPr lang="tr-TR" sz="2800" b="1" dirty="0" smtClean="0"/>
              <a:t>eney</a:t>
            </a:r>
            <a:r>
              <a:rPr lang="tr-TR" sz="2800" b="1" dirty="0"/>
              <a:t>.</a:t>
            </a:r>
            <a:endParaRPr lang="en-US" sz="2800" dirty="0"/>
          </a:p>
          <a:p>
            <a:pPr marL="342900" indent="-342900">
              <a:buFont typeface="+mj-lt"/>
              <a:buAutoNum type="arabicPeriod"/>
            </a:pPr>
            <a:endParaRPr lang="tr-TR" sz="2800" dirty="0" smtClean="0"/>
          </a:p>
          <a:p>
            <a:pPr marL="342900" indent="-342900">
              <a:buFont typeface="+mj-lt"/>
              <a:buAutoNum type="arabicPeriod"/>
            </a:pPr>
            <a:r>
              <a:rPr lang="tr-TR" sz="2800" b="1" dirty="0" smtClean="0"/>
              <a:t>Hükümetler Fena </a:t>
            </a:r>
            <a:r>
              <a:rPr lang="tr-TR" sz="2800" b="1" dirty="0"/>
              <a:t>H</a:t>
            </a:r>
            <a:r>
              <a:rPr lang="tr-TR" sz="2800" b="1" dirty="0" smtClean="0"/>
              <a:t>alde </a:t>
            </a:r>
            <a:r>
              <a:rPr lang="tr-TR" sz="2800" b="1" dirty="0"/>
              <a:t>T</a:t>
            </a:r>
            <a:r>
              <a:rPr lang="tr-TR" sz="2800" b="1" dirty="0" smtClean="0"/>
              <a:t>artışıyor Konuyu</a:t>
            </a:r>
            <a:endParaRPr lang="en-US" sz="2800" dirty="0"/>
          </a:p>
          <a:p>
            <a:endParaRPr lang="en-US" sz="2800" dirty="0"/>
          </a:p>
        </p:txBody>
      </p:sp>
    </p:spTree>
    <p:extLst>
      <p:ext uri="{BB962C8B-B14F-4D97-AF65-F5344CB8AC3E}">
        <p14:creationId xmlns:p14="http://schemas.microsoft.com/office/powerpoint/2010/main" val="19143729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43</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Güven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314274" y="1700808"/>
            <a:ext cx="7722222" cy="4647426"/>
          </a:xfrm>
          <a:prstGeom prst="rect">
            <a:avLst/>
          </a:prstGeom>
        </p:spPr>
        <p:txBody>
          <a:bodyPr wrap="square">
            <a:spAutoFit/>
          </a:bodyPr>
          <a:lstStyle/>
          <a:p>
            <a:r>
              <a:rPr lang="en-US" sz="3600" b="1" dirty="0"/>
              <a:t>Bitcoin </a:t>
            </a:r>
            <a:r>
              <a:rPr lang="en-US" sz="3600" b="1" dirty="0" err="1"/>
              <a:t>için</a:t>
            </a:r>
            <a:r>
              <a:rPr lang="en-US" sz="3600" b="1" dirty="0"/>
              <a:t> </a:t>
            </a:r>
            <a:r>
              <a:rPr lang="en-US" sz="3600" b="1" dirty="0" err="1"/>
              <a:t>Varoluşçu</a:t>
            </a:r>
            <a:r>
              <a:rPr lang="en-US" sz="3600" b="1" dirty="0"/>
              <a:t> </a:t>
            </a:r>
            <a:r>
              <a:rPr lang="en-US" sz="3600" b="1" dirty="0" err="1"/>
              <a:t>Riskler</a:t>
            </a:r>
            <a:r>
              <a:rPr lang="en-US" sz="3600" b="1" dirty="0"/>
              <a:t> </a:t>
            </a:r>
            <a:r>
              <a:rPr lang="en-US" sz="3600" b="1" dirty="0" err="1"/>
              <a:t>Nelerdir</a:t>
            </a:r>
            <a:r>
              <a:rPr lang="en-US" sz="3600" b="1" dirty="0" smtClean="0"/>
              <a:t>?</a:t>
            </a:r>
            <a:endParaRPr lang="tr-TR" sz="3600" b="1" dirty="0" smtClean="0"/>
          </a:p>
          <a:p>
            <a:endParaRPr lang="tr-TR" sz="2800" b="1" dirty="0"/>
          </a:p>
          <a:p>
            <a:r>
              <a:rPr lang="tr-TR" sz="2800" b="1" dirty="0" smtClean="0"/>
              <a:t>1- Var olan para birimlerine karşı avantajı olması lazım?</a:t>
            </a:r>
          </a:p>
          <a:p>
            <a:r>
              <a:rPr lang="tr-TR" sz="2800" b="1" dirty="0" smtClean="0"/>
              <a:t>2- Teknolojisinin göçmemesi lazım</a:t>
            </a:r>
          </a:p>
          <a:p>
            <a:r>
              <a:rPr lang="tr-TR" sz="2800" b="1" dirty="0" smtClean="0"/>
              <a:t>3- Yerine başka bir para birimi gelmemesi lazım</a:t>
            </a:r>
          </a:p>
          <a:p>
            <a:r>
              <a:rPr lang="tr-TR" sz="2800" b="1" dirty="0" smtClean="0"/>
              <a:t>4- Hükümetler ile uyum içerisinde olması lazım</a:t>
            </a:r>
            <a:endParaRPr lang="en-US" sz="2800" dirty="0"/>
          </a:p>
        </p:txBody>
      </p:sp>
    </p:spTree>
    <p:extLst>
      <p:ext uri="{BB962C8B-B14F-4D97-AF65-F5344CB8AC3E}">
        <p14:creationId xmlns:p14="http://schemas.microsoft.com/office/powerpoint/2010/main" val="356071897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44</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Güven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314274" y="1700808"/>
            <a:ext cx="7506198" cy="4832092"/>
          </a:xfrm>
          <a:prstGeom prst="rect">
            <a:avLst/>
          </a:prstGeom>
        </p:spPr>
        <p:txBody>
          <a:bodyPr wrap="square">
            <a:spAutoFit/>
          </a:bodyPr>
          <a:lstStyle/>
          <a:p>
            <a:r>
              <a:rPr lang="en-US" sz="2800" b="1" dirty="0"/>
              <a:t>Bitcoin </a:t>
            </a:r>
            <a:r>
              <a:rPr lang="en-US" sz="2800" b="1" dirty="0" err="1"/>
              <a:t>için</a:t>
            </a:r>
            <a:r>
              <a:rPr lang="en-US" sz="2800" b="1" dirty="0"/>
              <a:t> </a:t>
            </a:r>
            <a:r>
              <a:rPr lang="en-US" sz="2800" b="1" dirty="0" err="1"/>
              <a:t>Varoluşçu</a:t>
            </a:r>
            <a:r>
              <a:rPr lang="en-US" sz="2800" b="1" dirty="0"/>
              <a:t> </a:t>
            </a:r>
            <a:r>
              <a:rPr lang="en-US" sz="2800" b="1" dirty="0" err="1"/>
              <a:t>Riskler</a:t>
            </a:r>
            <a:r>
              <a:rPr lang="en-US" sz="2800" b="1" dirty="0"/>
              <a:t> </a:t>
            </a:r>
            <a:r>
              <a:rPr lang="en-US" sz="2800" b="1" dirty="0" err="1"/>
              <a:t>Nelerdir</a:t>
            </a:r>
            <a:r>
              <a:rPr lang="en-US" sz="2800" b="1" dirty="0"/>
              <a:t>?</a:t>
            </a:r>
            <a:endParaRPr lang="tr-TR" sz="2800" b="1" dirty="0"/>
          </a:p>
          <a:p>
            <a:endParaRPr lang="tr-TR" sz="2800" b="1" dirty="0"/>
          </a:p>
          <a:p>
            <a:r>
              <a:rPr lang="tr-TR" sz="2800" b="1" dirty="0" smtClean="0"/>
              <a:t>Var olan para birimlerine karşı avantajı olması lazım?</a:t>
            </a:r>
          </a:p>
          <a:p>
            <a:endParaRPr lang="tr-TR" sz="2800" b="1" dirty="0" smtClean="0"/>
          </a:p>
          <a:p>
            <a:pPr marL="914400" lvl="1" indent="-457200">
              <a:buFont typeface="Arial" panose="020B0604020202020204" pitchFamily="34" charset="0"/>
              <a:buChar char="•"/>
            </a:pPr>
            <a:r>
              <a:rPr lang="en-US" sz="2800" b="1" dirty="0" smtClean="0"/>
              <a:t>Portability:</a:t>
            </a:r>
            <a:r>
              <a:rPr lang="tr-TR" sz="2800" b="1" dirty="0" smtClean="0"/>
              <a:t> Taşınabilirlik</a:t>
            </a:r>
          </a:p>
          <a:p>
            <a:pPr marL="914400" lvl="1" indent="-457200">
              <a:buFont typeface="Arial" panose="020B0604020202020204" pitchFamily="34" charset="0"/>
              <a:buChar char="•"/>
            </a:pPr>
            <a:r>
              <a:rPr lang="en-US" sz="2800" b="1" dirty="0" smtClean="0"/>
              <a:t>Divisibility</a:t>
            </a:r>
            <a:r>
              <a:rPr lang="tr-TR" sz="2800" b="1" dirty="0" smtClean="0"/>
              <a:t>: Bölünebilirlik</a:t>
            </a:r>
          </a:p>
          <a:p>
            <a:pPr marL="914400" lvl="1" indent="-457200">
              <a:buFont typeface="Arial" panose="020B0604020202020204" pitchFamily="34" charset="0"/>
              <a:buChar char="•"/>
            </a:pPr>
            <a:r>
              <a:rPr lang="en-US" sz="2800" b="1" dirty="0" smtClean="0"/>
              <a:t>Durability</a:t>
            </a:r>
            <a:r>
              <a:rPr lang="tr-TR" sz="2800" b="1" dirty="0" smtClean="0"/>
              <a:t> : Sağlamlık</a:t>
            </a:r>
          </a:p>
          <a:p>
            <a:pPr marL="914400" lvl="1" indent="-457200">
              <a:buFont typeface="Arial" panose="020B0604020202020204" pitchFamily="34" charset="0"/>
              <a:buChar char="•"/>
            </a:pPr>
            <a:r>
              <a:rPr lang="en-US" sz="2800" b="1" dirty="0" smtClean="0"/>
              <a:t>Scarcity</a:t>
            </a:r>
            <a:r>
              <a:rPr lang="tr-TR" sz="2800" b="1" dirty="0" smtClean="0"/>
              <a:t> : Nadir, Toplamda 21M</a:t>
            </a:r>
          </a:p>
          <a:p>
            <a:pPr marL="914400" lvl="1" indent="-457200">
              <a:buFont typeface="Arial" panose="020B0604020202020204" pitchFamily="34" charset="0"/>
              <a:buChar char="•"/>
            </a:pPr>
            <a:r>
              <a:rPr lang="en-US" sz="2800" b="1" dirty="0" err="1" smtClean="0"/>
              <a:t>Fungibility</a:t>
            </a:r>
            <a:r>
              <a:rPr lang="tr-TR" sz="2800" b="1" dirty="0" smtClean="0"/>
              <a:t>: Sahtesini yapmak zor, takip edilebilir</a:t>
            </a:r>
            <a:endParaRPr lang="en-US" sz="2800" dirty="0"/>
          </a:p>
        </p:txBody>
      </p:sp>
    </p:spTree>
    <p:extLst>
      <p:ext uri="{BB962C8B-B14F-4D97-AF65-F5344CB8AC3E}">
        <p14:creationId xmlns:p14="http://schemas.microsoft.com/office/powerpoint/2010/main" val="93254064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45</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Güven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314274" y="1543841"/>
            <a:ext cx="7290173" cy="4401205"/>
          </a:xfrm>
          <a:prstGeom prst="rect">
            <a:avLst/>
          </a:prstGeom>
        </p:spPr>
        <p:txBody>
          <a:bodyPr wrap="square">
            <a:spAutoFit/>
          </a:bodyPr>
          <a:lstStyle/>
          <a:p>
            <a:r>
              <a:rPr lang="en-US" sz="2800" b="1" dirty="0"/>
              <a:t>Bitcoin </a:t>
            </a:r>
            <a:r>
              <a:rPr lang="en-US" sz="2800" b="1" dirty="0" err="1"/>
              <a:t>için</a:t>
            </a:r>
            <a:r>
              <a:rPr lang="en-US" sz="2800" b="1" dirty="0"/>
              <a:t> </a:t>
            </a:r>
            <a:r>
              <a:rPr lang="en-US" sz="2800" b="1" dirty="0" err="1"/>
              <a:t>Varoluşçu</a:t>
            </a:r>
            <a:r>
              <a:rPr lang="en-US" sz="2800" b="1" dirty="0"/>
              <a:t> </a:t>
            </a:r>
            <a:r>
              <a:rPr lang="en-US" sz="2800" b="1" dirty="0" err="1"/>
              <a:t>Riskler</a:t>
            </a:r>
            <a:r>
              <a:rPr lang="en-US" sz="2800" b="1" dirty="0"/>
              <a:t> </a:t>
            </a:r>
            <a:r>
              <a:rPr lang="en-US" sz="2800" b="1" dirty="0" err="1"/>
              <a:t>Nelerdir</a:t>
            </a:r>
            <a:r>
              <a:rPr lang="en-US" sz="2800" b="1" dirty="0"/>
              <a:t>?</a:t>
            </a:r>
            <a:endParaRPr lang="tr-TR" sz="2800" b="1" dirty="0"/>
          </a:p>
          <a:p>
            <a:r>
              <a:rPr lang="tr-TR" sz="2800" b="1" dirty="0" smtClean="0"/>
              <a:t> </a:t>
            </a:r>
          </a:p>
          <a:p>
            <a:r>
              <a:rPr lang="tr-TR" sz="2800" b="1" dirty="0" smtClean="0"/>
              <a:t>Teknolojisinin göçmemesi lazım?</a:t>
            </a:r>
          </a:p>
          <a:p>
            <a:endParaRPr lang="tr-TR" sz="2800" b="1" dirty="0"/>
          </a:p>
          <a:p>
            <a:endParaRPr lang="tr-TR" sz="2800" b="1" dirty="0" smtClean="0"/>
          </a:p>
          <a:p>
            <a:r>
              <a:rPr lang="en-US" sz="2800" dirty="0"/>
              <a:t>For instance, Dan </a:t>
            </a:r>
            <a:r>
              <a:rPr lang="en-US" sz="2800" dirty="0" err="1"/>
              <a:t>Kaminsky</a:t>
            </a:r>
            <a:r>
              <a:rPr lang="en-US" sz="2800" dirty="0"/>
              <a:t>, a respected security expert, wrote an article for </a:t>
            </a:r>
            <a:r>
              <a:rPr lang="en-US" sz="2800" i="1" dirty="0"/>
              <a:t>Business Insider</a:t>
            </a:r>
            <a:r>
              <a:rPr lang="en-US" sz="2800" dirty="0"/>
              <a:t> in April 2013 titled “I Tried Hacking Bitcoin and I Failed.” </a:t>
            </a:r>
            <a:endParaRPr lang="tr-TR" sz="2800" b="1" dirty="0" smtClean="0"/>
          </a:p>
          <a:p>
            <a:r>
              <a:rPr lang="tr-TR" sz="2800" b="1" dirty="0" smtClean="0"/>
              <a:t> </a:t>
            </a:r>
            <a:endParaRPr lang="en-US" sz="2800" dirty="0"/>
          </a:p>
        </p:txBody>
      </p:sp>
    </p:spTree>
    <p:extLst>
      <p:ext uri="{BB962C8B-B14F-4D97-AF65-F5344CB8AC3E}">
        <p14:creationId xmlns:p14="http://schemas.microsoft.com/office/powerpoint/2010/main" val="332251773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46</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Güven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314274" y="1700808"/>
            <a:ext cx="7146157" cy="2492990"/>
          </a:xfrm>
          <a:prstGeom prst="rect">
            <a:avLst/>
          </a:prstGeom>
        </p:spPr>
        <p:txBody>
          <a:bodyPr wrap="square">
            <a:spAutoFit/>
          </a:bodyPr>
          <a:lstStyle/>
          <a:p>
            <a:r>
              <a:rPr lang="en-US" sz="2400" b="1" dirty="0"/>
              <a:t>Bitcoin </a:t>
            </a:r>
            <a:r>
              <a:rPr lang="en-US" sz="2400" b="1" dirty="0" err="1"/>
              <a:t>için</a:t>
            </a:r>
            <a:r>
              <a:rPr lang="en-US" sz="2400" b="1" dirty="0"/>
              <a:t> </a:t>
            </a:r>
            <a:r>
              <a:rPr lang="en-US" sz="2400" b="1" dirty="0" err="1"/>
              <a:t>Varoluşçu</a:t>
            </a:r>
            <a:r>
              <a:rPr lang="en-US" sz="2400" b="1" dirty="0"/>
              <a:t> </a:t>
            </a:r>
            <a:r>
              <a:rPr lang="en-US" sz="2400" b="1" dirty="0" err="1"/>
              <a:t>Riskler</a:t>
            </a:r>
            <a:r>
              <a:rPr lang="en-US" sz="2400" b="1" dirty="0"/>
              <a:t> </a:t>
            </a:r>
            <a:r>
              <a:rPr lang="en-US" sz="2400" b="1" dirty="0" err="1"/>
              <a:t>Nelerdir</a:t>
            </a:r>
            <a:r>
              <a:rPr lang="en-US" sz="2400" b="1" dirty="0"/>
              <a:t>?</a:t>
            </a:r>
            <a:endParaRPr lang="tr-TR" sz="2400" b="1" dirty="0"/>
          </a:p>
          <a:p>
            <a:endParaRPr lang="tr-TR" b="1" dirty="0" smtClean="0"/>
          </a:p>
          <a:p>
            <a:r>
              <a:rPr lang="tr-TR" b="1" dirty="0" smtClean="0"/>
              <a:t> </a:t>
            </a:r>
            <a:r>
              <a:rPr lang="tr-TR" sz="2400" b="1" dirty="0"/>
              <a:t>Yerine başka bir para birimi gelmemesi </a:t>
            </a:r>
            <a:r>
              <a:rPr lang="tr-TR" sz="2400" b="1" dirty="0" smtClean="0"/>
              <a:t>lazım?</a:t>
            </a:r>
          </a:p>
          <a:p>
            <a:endParaRPr lang="tr-TR" b="1" dirty="0"/>
          </a:p>
          <a:p>
            <a:pPr marL="285750" indent="-285750">
              <a:buFont typeface="Arial" panose="020B0604020202020204" pitchFamily="34" charset="0"/>
              <a:buChar char="•"/>
            </a:pPr>
            <a:r>
              <a:rPr lang="tr-TR" sz="2400" b="1" dirty="0" smtClean="0"/>
              <a:t>Değer Belirleme Süreci</a:t>
            </a:r>
          </a:p>
          <a:p>
            <a:pPr marL="342900" indent="-342900">
              <a:buFont typeface="Arial" panose="020B0604020202020204" pitchFamily="34" charset="0"/>
              <a:buChar char="•"/>
            </a:pPr>
            <a:r>
              <a:rPr lang="tr-TR" sz="2400" b="1" dirty="0" smtClean="0"/>
              <a:t>Diğer Coinler? </a:t>
            </a:r>
          </a:p>
          <a:p>
            <a:pPr marL="342900" indent="-342900">
              <a:buFont typeface="Arial" panose="020B0604020202020204" pitchFamily="34" charset="0"/>
              <a:buChar char="•"/>
            </a:pPr>
            <a:r>
              <a:rPr lang="tr-TR" sz="2400" b="1" dirty="0" smtClean="0"/>
              <a:t>Yerine mi Geçer yanında mı yer alır?</a:t>
            </a:r>
            <a:endParaRPr lang="en-US" sz="2400" b="1" dirty="0"/>
          </a:p>
        </p:txBody>
      </p:sp>
    </p:spTree>
    <p:extLst>
      <p:ext uri="{BB962C8B-B14F-4D97-AF65-F5344CB8AC3E}">
        <p14:creationId xmlns:p14="http://schemas.microsoft.com/office/powerpoint/2010/main" val="264050873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47</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Güven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314274" y="1700808"/>
            <a:ext cx="6786117" cy="3508653"/>
          </a:xfrm>
          <a:prstGeom prst="rect">
            <a:avLst/>
          </a:prstGeom>
        </p:spPr>
        <p:txBody>
          <a:bodyPr wrap="square">
            <a:spAutoFit/>
          </a:bodyPr>
          <a:lstStyle/>
          <a:p>
            <a:r>
              <a:rPr lang="en-US" sz="2800" b="1" dirty="0"/>
              <a:t>Bitcoin </a:t>
            </a:r>
            <a:r>
              <a:rPr lang="en-US" sz="2800" b="1" dirty="0" err="1"/>
              <a:t>için</a:t>
            </a:r>
            <a:r>
              <a:rPr lang="en-US" sz="2800" b="1" dirty="0"/>
              <a:t> </a:t>
            </a:r>
            <a:r>
              <a:rPr lang="en-US" sz="2800" b="1" dirty="0" err="1"/>
              <a:t>Varoluşçu</a:t>
            </a:r>
            <a:r>
              <a:rPr lang="en-US" sz="2800" b="1" dirty="0"/>
              <a:t> </a:t>
            </a:r>
            <a:r>
              <a:rPr lang="en-US" sz="2800" b="1" dirty="0" err="1" smtClean="0"/>
              <a:t>Riskler</a:t>
            </a:r>
            <a:endParaRPr lang="tr-TR" b="1" dirty="0" smtClean="0"/>
          </a:p>
          <a:p>
            <a:r>
              <a:rPr lang="tr-TR" b="1" dirty="0" smtClean="0"/>
              <a:t> </a:t>
            </a:r>
          </a:p>
          <a:p>
            <a:endParaRPr lang="tr-TR" sz="2800" b="1" dirty="0" smtClean="0"/>
          </a:p>
          <a:p>
            <a:r>
              <a:rPr lang="tr-TR" sz="2800" b="1" dirty="0" smtClean="0"/>
              <a:t>Hükümetler ile uyum içerisinde olması lazım?</a:t>
            </a:r>
          </a:p>
          <a:p>
            <a:endParaRPr lang="tr-TR" sz="2800" b="1" dirty="0"/>
          </a:p>
          <a:p>
            <a:r>
              <a:rPr lang="tr-TR" sz="2800" b="1" dirty="0" smtClean="0"/>
              <a:t>Interneti kapatabildiler mi?</a:t>
            </a:r>
          </a:p>
          <a:p>
            <a:endParaRPr lang="tr-TR" b="1" dirty="0"/>
          </a:p>
          <a:p>
            <a:endParaRPr lang="en-US" dirty="0"/>
          </a:p>
        </p:txBody>
      </p:sp>
    </p:spTree>
    <p:extLst>
      <p:ext uri="{BB962C8B-B14F-4D97-AF65-F5344CB8AC3E}">
        <p14:creationId xmlns:p14="http://schemas.microsoft.com/office/powerpoint/2010/main" val="124829978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48</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Güven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314275" y="1700808"/>
            <a:ext cx="5310336" cy="3139321"/>
          </a:xfrm>
          <a:prstGeom prst="rect">
            <a:avLst/>
          </a:prstGeom>
        </p:spPr>
        <p:txBody>
          <a:bodyPr wrap="square">
            <a:spAutoFit/>
          </a:bodyPr>
          <a:lstStyle/>
          <a:p>
            <a:r>
              <a:rPr lang="tr-TR" b="1" dirty="0" smtClean="0"/>
              <a:t>Gelecekteki Rolü Ne olacak?</a:t>
            </a:r>
          </a:p>
          <a:p>
            <a:endParaRPr lang="en-US" dirty="0"/>
          </a:p>
          <a:p>
            <a:r>
              <a:rPr lang="tr-TR" dirty="0" smtClean="0"/>
              <a:t>Oynacagı rol değerini belirleyecek</a:t>
            </a:r>
          </a:p>
          <a:p>
            <a:endParaRPr lang="tr-TR" dirty="0" smtClean="0"/>
          </a:p>
          <a:p>
            <a:r>
              <a:rPr lang="tr-TR" dirty="0" smtClean="0"/>
              <a:t>Birikim için kullanmak : Günümüzde bir kişinin değeri 25000 Dolar ortalama. Gerisini siz düşünün. </a:t>
            </a:r>
          </a:p>
          <a:p>
            <a:endParaRPr lang="tr-TR" dirty="0" smtClean="0"/>
          </a:p>
          <a:p>
            <a:r>
              <a:rPr lang="tr-TR" dirty="0" smtClean="0"/>
              <a:t>Toplam ticaret hacminin ufak bir kısmı bitcoin ile yapılsa?</a:t>
            </a:r>
            <a:endParaRPr lang="tr-TR" dirty="0"/>
          </a:p>
          <a:p>
            <a:r>
              <a:rPr lang="tr-TR" b="1" dirty="0" smtClean="0"/>
              <a:t> </a:t>
            </a:r>
            <a:endParaRPr lang="en-US" dirty="0"/>
          </a:p>
        </p:txBody>
      </p:sp>
    </p:spTree>
    <p:extLst>
      <p:ext uri="{BB962C8B-B14F-4D97-AF65-F5344CB8AC3E}">
        <p14:creationId xmlns:p14="http://schemas.microsoft.com/office/powerpoint/2010/main" val="361532211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49</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Güven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314275" y="1700808"/>
            <a:ext cx="5310336" cy="2585323"/>
          </a:xfrm>
          <a:prstGeom prst="rect">
            <a:avLst/>
          </a:prstGeom>
        </p:spPr>
        <p:txBody>
          <a:bodyPr wrap="square">
            <a:spAutoFit/>
          </a:bodyPr>
          <a:lstStyle/>
          <a:p>
            <a:r>
              <a:rPr lang="tr-TR" b="1" dirty="0"/>
              <a:t>Gelecekteki Rolü Ne olacak?</a:t>
            </a:r>
          </a:p>
          <a:p>
            <a:r>
              <a:rPr lang="tr-TR" dirty="0" smtClean="0"/>
              <a:t>Oynacagı rol değerini belirleyecek</a:t>
            </a:r>
          </a:p>
          <a:p>
            <a:endParaRPr lang="tr-TR" dirty="0" smtClean="0"/>
          </a:p>
          <a:p>
            <a:pPr marL="342900" indent="-342900">
              <a:buAutoNum type="arabicPeriod"/>
            </a:pPr>
            <a:r>
              <a:rPr lang="tr-TR" dirty="0" smtClean="0"/>
              <a:t>Bir kişi ne kadar harcama yapıyor düzenli olarak?  Ortalama yıllık gelir 15000 dolar</a:t>
            </a:r>
          </a:p>
          <a:p>
            <a:pPr marL="342900" indent="-342900">
              <a:buAutoNum type="arabicPeriod"/>
            </a:pPr>
            <a:endParaRPr lang="en-US" dirty="0"/>
          </a:p>
          <a:p>
            <a:r>
              <a:rPr lang="en-US" dirty="0"/>
              <a:t>2</a:t>
            </a:r>
            <a:r>
              <a:rPr lang="en-US" dirty="0" smtClean="0"/>
              <a:t>.</a:t>
            </a:r>
            <a:r>
              <a:rPr lang="tr-TR" dirty="0" smtClean="0"/>
              <a:t> Bitcoinin tekrar kullanımı ne kadar sürüyor?</a:t>
            </a:r>
            <a:r>
              <a:rPr lang="en-US" dirty="0" smtClean="0"/>
              <a:t> </a:t>
            </a:r>
            <a:r>
              <a:rPr lang="tr-TR" dirty="0" smtClean="0"/>
              <a:t> 1 ay sürdüğünü kabul etsek mesela? 1200 dolara ihtiyac var </a:t>
            </a:r>
            <a:endParaRPr lang="en-US" dirty="0"/>
          </a:p>
        </p:txBody>
      </p:sp>
    </p:spTree>
    <p:extLst>
      <p:ext uri="{BB962C8B-B14F-4D97-AF65-F5344CB8AC3E}">
        <p14:creationId xmlns:p14="http://schemas.microsoft.com/office/powerpoint/2010/main" val="177414549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50</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Güven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835696" y="1700808"/>
            <a:ext cx="5526360" cy="2031325"/>
          </a:xfrm>
          <a:prstGeom prst="rect">
            <a:avLst/>
          </a:prstGeom>
        </p:spPr>
        <p:txBody>
          <a:bodyPr wrap="square">
            <a:spAutoFit/>
          </a:bodyPr>
          <a:lstStyle/>
          <a:p>
            <a:r>
              <a:rPr lang="tr-TR" b="1" dirty="0"/>
              <a:t>Gelecekteki Rolü Ne olacak?</a:t>
            </a:r>
          </a:p>
          <a:p>
            <a:r>
              <a:rPr lang="tr-TR" dirty="0"/>
              <a:t>Oynacagı rol değerini </a:t>
            </a:r>
            <a:r>
              <a:rPr lang="tr-TR" dirty="0" smtClean="0"/>
              <a:t>belirleyecek</a:t>
            </a:r>
          </a:p>
          <a:p>
            <a:endParaRPr lang="tr-TR" dirty="0"/>
          </a:p>
          <a:p>
            <a:r>
              <a:rPr lang="en-US" b="1" dirty="0" smtClean="0"/>
              <a:t>UNIT </a:t>
            </a:r>
            <a:r>
              <a:rPr lang="en-US" b="1" dirty="0"/>
              <a:t>OF </a:t>
            </a:r>
            <a:r>
              <a:rPr lang="en-US" b="1" dirty="0" smtClean="0"/>
              <a:t>ACCOUNT</a:t>
            </a:r>
            <a:endParaRPr lang="tr-TR" b="1" dirty="0" smtClean="0"/>
          </a:p>
          <a:p>
            <a:endParaRPr lang="tr-TR" b="1" dirty="0"/>
          </a:p>
          <a:p>
            <a:r>
              <a:rPr lang="tr-TR" b="1" dirty="0" smtClean="0"/>
              <a:t>Nesnelerin değerini </a:t>
            </a:r>
            <a:r>
              <a:rPr lang="tr-TR" b="1" dirty="0" smtClean="0"/>
              <a:t>belirlemek </a:t>
            </a:r>
            <a:r>
              <a:rPr lang="tr-TR" b="1" dirty="0" smtClean="0"/>
              <a:t>için kullanılsa mesela?</a:t>
            </a:r>
            <a:endParaRPr lang="en-US" dirty="0"/>
          </a:p>
        </p:txBody>
      </p:sp>
    </p:spTree>
    <p:extLst>
      <p:ext uri="{BB962C8B-B14F-4D97-AF65-F5344CB8AC3E}">
        <p14:creationId xmlns:p14="http://schemas.microsoft.com/office/powerpoint/2010/main" val="233861988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51</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Güven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314275" y="1700808"/>
            <a:ext cx="5310336" cy="3139321"/>
          </a:xfrm>
          <a:prstGeom prst="rect">
            <a:avLst/>
          </a:prstGeom>
        </p:spPr>
        <p:txBody>
          <a:bodyPr wrap="square">
            <a:spAutoFit/>
          </a:bodyPr>
          <a:lstStyle/>
          <a:p>
            <a:r>
              <a:rPr lang="en-US" b="1" dirty="0"/>
              <a:t>The Dangers of Decentralized Digital </a:t>
            </a:r>
            <a:r>
              <a:rPr lang="en-US" b="1" dirty="0" smtClean="0"/>
              <a:t>Money</a:t>
            </a:r>
            <a:endParaRPr lang="tr-TR" b="1" dirty="0" smtClean="0"/>
          </a:p>
          <a:p>
            <a:endParaRPr lang="tr-TR" b="1" dirty="0"/>
          </a:p>
          <a:p>
            <a:r>
              <a:rPr lang="en-US" b="1" dirty="0"/>
              <a:t>Bitcoin and Illegal Activity</a:t>
            </a:r>
            <a:endParaRPr lang="en-US" dirty="0"/>
          </a:p>
          <a:p>
            <a:endParaRPr lang="tr-TR" dirty="0" smtClean="0"/>
          </a:p>
          <a:p>
            <a:r>
              <a:rPr lang="en-US" b="1" dirty="0"/>
              <a:t>The Energy Costs of </a:t>
            </a:r>
            <a:r>
              <a:rPr lang="en-US" b="1" dirty="0" smtClean="0"/>
              <a:t>Bitcoin</a:t>
            </a:r>
            <a:endParaRPr lang="tr-TR" b="1" dirty="0" smtClean="0"/>
          </a:p>
          <a:p>
            <a:endParaRPr lang="tr-TR" b="1" dirty="0"/>
          </a:p>
          <a:p>
            <a:r>
              <a:rPr lang="en-US" b="1" dirty="0"/>
              <a:t>Bitcoin and the Dangers of Deflation</a:t>
            </a:r>
            <a:endParaRPr lang="en-US" dirty="0"/>
          </a:p>
          <a:p>
            <a:endParaRPr lang="tr-TR" dirty="0" smtClean="0"/>
          </a:p>
          <a:p>
            <a:r>
              <a:rPr lang="en-US" b="1" dirty="0"/>
              <a:t>Bitcoin and Government Stability</a:t>
            </a:r>
            <a:endParaRPr lang="en-US" dirty="0"/>
          </a:p>
          <a:p>
            <a:endParaRPr lang="en-US" dirty="0"/>
          </a:p>
          <a:p>
            <a:endParaRPr lang="en-US" dirty="0"/>
          </a:p>
        </p:txBody>
      </p:sp>
    </p:spTree>
    <p:extLst>
      <p:ext uri="{BB962C8B-B14F-4D97-AF65-F5344CB8AC3E}">
        <p14:creationId xmlns:p14="http://schemas.microsoft.com/office/powerpoint/2010/main" val="302032249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52</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Güven</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314274" y="1700808"/>
            <a:ext cx="7218165" cy="4308872"/>
          </a:xfrm>
          <a:prstGeom prst="rect">
            <a:avLst/>
          </a:prstGeom>
        </p:spPr>
        <p:txBody>
          <a:bodyPr wrap="square">
            <a:spAutoFit/>
          </a:bodyPr>
          <a:lstStyle/>
          <a:p>
            <a:r>
              <a:rPr lang="tr-TR" sz="3600" b="1" dirty="0" smtClean="0"/>
              <a:t>Merkezi olmayan Digital parada ki tehlikeler Neler? </a:t>
            </a:r>
          </a:p>
          <a:p>
            <a:endParaRPr lang="tr-TR" b="1" dirty="0"/>
          </a:p>
          <a:p>
            <a:pPr algn="ctr"/>
            <a:r>
              <a:rPr lang="tr-TR" b="1" dirty="0" smtClean="0"/>
              <a:t>  </a:t>
            </a:r>
            <a:r>
              <a:rPr lang="en-US" sz="2800" b="1" dirty="0" smtClean="0"/>
              <a:t>Illegal </a:t>
            </a:r>
            <a:r>
              <a:rPr lang="en-US" sz="2800" b="1" dirty="0" err="1" smtClean="0"/>
              <a:t>Activit</a:t>
            </a:r>
            <a:r>
              <a:rPr lang="tr-TR" sz="2800" b="1" dirty="0" smtClean="0"/>
              <a:t>eler</a:t>
            </a:r>
            <a:endParaRPr lang="en-US" sz="2800" dirty="0"/>
          </a:p>
          <a:p>
            <a:pPr algn="ctr"/>
            <a:endParaRPr lang="tr-TR" sz="2800" dirty="0" smtClean="0"/>
          </a:p>
          <a:p>
            <a:pPr algn="ctr"/>
            <a:r>
              <a:rPr lang="tr-TR" sz="2800" b="1" dirty="0" smtClean="0"/>
              <a:t>  Enerji Tüketimi</a:t>
            </a:r>
          </a:p>
          <a:p>
            <a:pPr algn="ctr"/>
            <a:r>
              <a:rPr lang="tr-TR" sz="2800" b="1" dirty="0" smtClean="0"/>
              <a:t>(</a:t>
            </a:r>
            <a:r>
              <a:rPr lang="en-US" sz="2800" b="1" dirty="0" smtClean="0"/>
              <a:t>PROOF-OF-STAKE</a:t>
            </a:r>
            <a:r>
              <a:rPr lang="tr-TR" sz="2800" b="1" dirty="0" smtClean="0"/>
              <a:t>)</a:t>
            </a:r>
            <a:endParaRPr lang="en-US" sz="2800" dirty="0"/>
          </a:p>
          <a:p>
            <a:endParaRPr lang="tr-TR" dirty="0" smtClean="0"/>
          </a:p>
          <a:p>
            <a:endParaRPr lang="tr-TR" dirty="0"/>
          </a:p>
          <a:p>
            <a:endParaRPr lang="en-US" dirty="0"/>
          </a:p>
          <a:p>
            <a:endParaRPr lang="en-US" dirty="0"/>
          </a:p>
        </p:txBody>
      </p:sp>
    </p:spTree>
    <p:extLst>
      <p:ext uri="{BB962C8B-B14F-4D97-AF65-F5344CB8AC3E}">
        <p14:creationId xmlns:p14="http://schemas.microsoft.com/office/powerpoint/2010/main" val="308664744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53</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Kriptografi</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314275" y="1700808"/>
            <a:ext cx="5310336" cy="1446550"/>
          </a:xfrm>
          <a:prstGeom prst="rect">
            <a:avLst/>
          </a:prstGeom>
        </p:spPr>
        <p:txBody>
          <a:bodyPr wrap="square">
            <a:spAutoFit/>
          </a:bodyPr>
          <a:lstStyle/>
          <a:p>
            <a:r>
              <a:rPr lang="en-US" sz="4400" b="1" dirty="0"/>
              <a:t>The Cryptography Behind Bitcoin</a:t>
            </a:r>
            <a:endParaRPr lang="en-US" sz="4400" dirty="0"/>
          </a:p>
        </p:txBody>
      </p:sp>
    </p:spTree>
    <p:extLst>
      <p:ext uri="{BB962C8B-B14F-4D97-AF65-F5344CB8AC3E}">
        <p14:creationId xmlns:p14="http://schemas.microsoft.com/office/powerpoint/2010/main" val="163604842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54</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Kriptografi</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979712" y="1700808"/>
            <a:ext cx="6120679" cy="3170099"/>
          </a:xfrm>
          <a:prstGeom prst="rect">
            <a:avLst/>
          </a:prstGeom>
        </p:spPr>
        <p:txBody>
          <a:bodyPr wrap="square">
            <a:spAutoFit/>
          </a:bodyPr>
          <a:lstStyle/>
          <a:p>
            <a:r>
              <a:rPr lang="en-US" sz="4000" b="1" dirty="0"/>
              <a:t>The Cryptography Behind </a:t>
            </a:r>
            <a:r>
              <a:rPr lang="en-US" sz="4000" b="1" dirty="0" smtClean="0"/>
              <a:t>Bitcoin</a:t>
            </a:r>
            <a:endParaRPr lang="tr-TR" sz="4000" b="1" dirty="0" smtClean="0"/>
          </a:p>
          <a:p>
            <a:endParaRPr lang="tr-TR" sz="4000" b="1" dirty="0"/>
          </a:p>
          <a:p>
            <a:r>
              <a:rPr lang="en-US" sz="4000" b="1" i="1" dirty="0"/>
              <a:t>One-Way Functions</a:t>
            </a:r>
            <a:endParaRPr lang="en-US" sz="4000" dirty="0"/>
          </a:p>
          <a:p>
            <a:endParaRPr lang="en-US" sz="4000" dirty="0"/>
          </a:p>
        </p:txBody>
      </p:sp>
    </p:spTree>
    <p:extLst>
      <p:ext uri="{BB962C8B-B14F-4D97-AF65-F5344CB8AC3E}">
        <p14:creationId xmlns:p14="http://schemas.microsoft.com/office/powerpoint/2010/main" val="406088508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55</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Kriptografi</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1547664" y="1571625"/>
            <a:ext cx="7200801" cy="3200876"/>
          </a:xfrm>
          <a:prstGeom prst="rect">
            <a:avLst/>
          </a:prstGeom>
        </p:spPr>
        <p:txBody>
          <a:bodyPr wrap="square">
            <a:spAutoFit/>
          </a:bodyPr>
          <a:lstStyle/>
          <a:p>
            <a:r>
              <a:rPr lang="tr-TR" sz="3600" b="1" dirty="0" smtClean="0"/>
              <a:t>Bitcoin Neden Kriptografiye ihtiyac Duyuyor?</a:t>
            </a:r>
          </a:p>
          <a:p>
            <a:endParaRPr lang="tr-TR" dirty="0"/>
          </a:p>
          <a:p>
            <a:r>
              <a:rPr lang="tr-TR" sz="2800" dirty="0" smtClean="0"/>
              <a:t>1- Digital İmza</a:t>
            </a:r>
          </a:p>
          <a:p>
            <a:r>
              <a:rPr lang="tr-TR" sz="2800" dirty="0"/>
              <a:t>2</a:t>
            </a:r>
            <a:r>
              <a:rPr lang="tr-TR" sz="2800" dirty="0" smtClean="0"/>
              <a:t>- Transferin doğrulugunu Onaylamak için</a:t>
            </a:r>
          </a:p>
          <a:p>
            <a:r>
              <a:rPr lang="tr-TR" sz="2800" dirty="0" smtClean="0"/>
              <a:t>3- Mining yani Proof-of-work için</a:t>
            </a:r>
          </a:p>
          <a:p>
            <a:r>
              <a:rPr lang="tr-TR" sz="2800" dirty="0" smtClean="0"/>
              <a:t>4- Private Key’i korumak için</a:t>
            </a:r>
            <a:endParaRPr lang="en-US" sz="2800" dirty="0"/>
          </a:p>
        </p:txBody>
      </p:sp>
    </p:spTree>
    <p:extLst>
      <p:ext uri="{BB962C8B-B14F-4D97-AF65-F5344CB8AC3E}">
        <p14:creationId xmlns:p14="http://schemas.microsoft.com/office/powerpoint/2010/main" val="34721183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56</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Kriptografi</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475656" y="1988840"/>
            <a:ext cx="7200800" cy="3970318"/>
          </a:xfrm>
          <a:prstGeom prst="rect">
            <a:avLst/>
          </a:prstGeom>
        </p:spPr>
        <p:txBody>
          <a:bodyPr wrap="square">
            <a:spAutoFit/>
          </a:bodyPr>
          <a:lstStyle/>
          <a:p>
            <a:r>
              <a:rPr lang="en-US" b="1" cap="all" dirty="0" smtClean="0"/>
              <a:t>CRYPTOGRAPHIC METHODS USED IN BITCOIN</a:t>
            </a:r>
            <a:endParaRPr lang="tr-TR" b="1" cap="all" dirty="0" smtClean="0"/>
          </a:p>
          <a:p>
            <a:endParaRPr lang="en-US" cap="all" dirty="0"/>
          </a:p>
          <a:p>
            <a:r>
              <a:rPr lang="en-US" b="1" i="1" dirty="0"/>
              <a:t>Cryptographic Hash Functions: SHA256 and </a:t>
            </a:r>
            <a:r>
              <a:rPr lang="en-US" b="1" i="1" dirty="0" smtClean="0"/>
              <a:t>RIPEMD160</a:t>
            </a:r>
            <a:endParaRPr lang="tr-TR" b="1" i="1" dirty="0" smtClean="0"/>
          </a:p>
          <a:p>
            <a:endParaRPr lang="en-US" dirty="0"/>
          </a:p>
          <a:p>
            <a:r>
              <a:rPr lang="en-US" dirty="0"/>
              <a:t>Secure Hash Algorithm (SHA) </a:t>
            </a:r>
            <a:r>
              <a:rPr lang="tr-TR" dirty="0" smtClean="0"/>
              <a:t>NSA Tarafından Geliştirilmiş. Proof-of-work te kullanılıyor.</a:t>
            </a:r>
          </a:p>
          <a:p>
            <a:endParaRPr lang="tr-TR" dirty="0" smtClean="0"/>
          </a:p>
          <a:p>
            <a:r>
              <a:rPr lang="en-US" dirty="0" smtClean="0"/>
              <a:t> </a:t>
            </a:r>
            <a:r>
              <a:rPr lang="en-US" dirty="0"/>
              <a:t>Race Integrity Primitives Evaluation Message Digest (RIPEMD) </a:t>
            </a:r>
            <a:r>
              <a:rPr lang="tr-TR" dirty="0" smtClean="0"/>
              <a:t>akedemisyenler tarafindan geliştirilmiş. </a:t>
            </a:r>
            <a:r>
              <a:rPr lang="en-US" dirty="0" smtClean="0"/>
              <a:t>Hans </a:t>
            </a:r>
            <a:r>
              <a:rPr lang="en-US" dirty="0" err="1"/>
              <a:t>Dobbertin</a:t>
            </a:r>
            <a:r>
              <a:rPr lang="en-US" dirty="0"/>
              <a:t>, </a:t>
            </a:r>
            <a:r>
              <a:rPr lang="en-US" dirty="0" err="1"/>
              <a:t>Antoon</a:t>
            </a:r>
            <a:r>
              <a:rPr lang="en-US" dirty="0"/>
              <a:t> </a:t>
            </a:r>
            <a:r>
              <a:rPr lang="en-US" dirty="0" err="1"/>
              <a:t>Bosselaers</a:t>
            </a:r>
            <a:r>
              <a:rPr lang="en-US" dirty="0"/>
              <a:t>, and Bart </a:t>
            </a:r>
            <a:r>
              <a:rPr lang="en-US" dirty="0" err="1"/>
              <a:t>Preneel</a:t>
            </a:r>
            <a:r>
              <a:rPr lang="en-US" dirty="0"/>
              <a:t> at the </a:t>
            </a:r>
            <a:r>
              <a:rPr lang="en-US" dirty="0" err="1"/>
              <a:t>Katholieke</a:t>
            </a:r>
            <a:r>
              <a:rPr lang="en-US" dirty="0"/>
              <a:t> </a:t>
            </a:r>
            <a:r>
              <a:rPr lang="en-US" dirty="0" err="1"/>
              <a:t>Universiteit</a:t>
            </a:r>
            <a:r>
              <a:rPr lang="en-US" dirty="0"/>
              <a:t> Leuven</a:t>
            </a:r>
            <a:r>
              <a:rPr lang="en-US" dirty="0" smtClean="0"/>
              <a:t>.</a:t>
            </a:r>
            <a:endParaRPr lang="tr-TR" dirty="0" smtClean="0"/>
          </a:p>
          <a:p>
            <a:r>
              <a:rPr lang="en-US" dirty="0"/>
              <a:t> </a:t>
            </a:r>
            <a:endParaRPr lang="tr-TR" dirty="0" smtClean="0"/>
          </a:p>
          <a:p>
            <a:r>
              <a:rPr lang="en-US" dirty="0" smtClean="0"/>
              <a:t>256 </a:t>
            </a:r>
            <a:r>
              <a:rPr lang="en-US" dirty="0"/>
              <a:t>and 160 </a:t>
            </a:r>
            <a:r>
              <a:rPr lang="tr-TR" dirty="0" smtClean="0"/>
              <a:t>çıktının bit uzunluğunu göstermek için kullanılıyor.</a:t>
            </a:r>
          </a:p>
          <a:p>
            <a:endParaRPr lang="tr-TR" dirty="0"/>
          </a:p>
          <a:p>
            <a:r>
              <a:rPr lang="tr-TR" dirty="0" smtClean="0"/>
              <a:t> </a:t>
            </a:r>
            <a:endParaRPr lang="en-US" dirty="0"/>
          </a:p>
        </p:txBody>
      </p:sp>
    </p:spTree>
    <p:extLst>
      <p:ext uri="{BB962C8B-B14F-4D97-AF65-F5344CB8AC3E}">
        <p14:creationId xmlns:p14="http://schemas.microsoft.com/office/powerpoint/2010/main" val="13851700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57</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Kriptografi</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1"/>
          <p:cNvSpPr>
            <a:spLocks noChangeArrowheads="1"/>
          </p:cNvSpPr>
          <p:nvPr/>
        </p:nvSpPr>
        <p:spPr bwMode="auto">
          <a:xfrm>
            <a:off x="1403648" y="1834375"/>
            <a:ext cx="7560840" cy="1979948"/>
          </a:xfrm>
          <a:prstGeom prst="rect">
            <a:avLst/>
          </a:prstGeom>
          <a:solidFill>
            <a:srgbClr val="FBFBF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1740" tIns="126960" rIns="0" bIns="12696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rgbClr val="4A3C31"/>
                </a:solidFill>
                <a:effectLst/>
                <a:latin typeface="Courier New" pitchFamily="49" charset="0"/>
                <a:cs typeface="Courier New" pitchFamily="49" charset="0"/>
              </a:rPr>
              <a:t>SHA256("Crowley is trapped on an island")</a:t>
            </a:r>
            <a:br>
              <a:rPr kumimoji="0" lang="en-US" altLang="en-US" sz="2800" b="0" i="0" u="none" strike="noStrike" cap="none" normalizeH="0" baseline="0" dirty="0" smtClean="0">
                <a:ln>
                  <a:noFill/>
                </a:ln>
                <a:solidFill>
                  <a:srgbClr val="4A3C31"/>
                </a:solidFill>
                <a:effectLst/>
                <a:latin typeface="Courier New" pitchFamily="49" charset="0"/>
                <a:cs typeface="Courier New" pitchFamily="49" charset="0"/>
              </a:rPr>
            </a:br>
            <a:r>
              <a:rPr kumimoji="0" lang="en-US" altLang="en-US" sz="2800" b="0" i="0" u="none" strike="noStrike" cap="none" normalizeH="0" baseline="0" dirty="0" smtClean="0">
                <a:ln>
                  <a:noFill/>
                </a:ln>
                <a:solidFill>
                  <a:srgbClr val="4A3C31"/>
                </a:solidFill>
                <a:effectLst/>
                <a:latin typeface="Courier New" pitchFamily="49" charset="0"/>
                <a:cs typeface="Courier New" pitchFamily="49" charset="0"/>
              </a:rPr>
              <a:t>= 1e8f7e62b42f07766c3c4367e670a328d73b7eb596602198f126324f013f30a5</a:t>
            </a:r>
            <a:r>
              <a:rPr kumimoji="0" lang="en-US" altLang="en-US" sz="2800" b="0" i="0" u="none" strike="noStrike" cap="none" normalizeH="0" baseline="0" dirty="0" smtClean="0">
                <a:ln>
                  <a:noFill/>
                </a:ln>
                <a:solidFill>
                  <a:schemeClr val="tx1"/>
                </a:solidFill>
                <a:effectLst/>
                <a:latin typeface="Arial" pitchFamily="34" charset="0"/>
                <a:cs typeface="Arial" pitchFamily="34" charset="0"/>
              </a:rPr>
              <a:t> </a:t>
            </a:r>
          </a:p>
        </p:txBody>
      </p:sp>
      <p:sp>
        <p:nvSpPr>
          <p:cNvPr id="4" name="Rectangle 2"/>
          <p:cNvSpPr>
            <a:spLocks noChangeArrowheads="1"/>
          </p:cNvSpPr>
          <p:nvPr/>
        </p:nvSpPr>
        <p:spPr bwMode="auto">
          <a:xfrm>
            <a:off x="1403648" y="3991199"/>
            <a:ext cx="7560840" cy="1979948"/>
          </a:xfrm>
          <a:prstGeom prst="rect">
            <a:avLst/>
          </a:prstGeom>
          <a:solidFill>
            <a:srgbClr val="FBFBF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1740" tIns="126960" rIns="0" bIns="12696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rgbClr val="4A3C31"/>
                </a:solidFill>
                <a:effectLst/>
                <a:latin typeface="Courier New" pitchFamily="49" charset="0"/>
                <a:cs typeface="Courier New" pitchFamily="49" charset="0"/>
              </a:rPr>
              <a:t>SHA256("Crowley is trapped on an </a:t>
            </a:r>
            <a:r>
              <a:rPr kumimoji="0" lang="en-US" altLang="en-US" sz="2800" b="1" i="0" u="none" strike="noStrike" cap="none" normalizeH="0" baseline="0" dirty="0" smtClean="0">
                <a:ln>
                  <a:noFill/>
                </a:ln>
                <a:solidFill>
                  <a:srgbClr val="4A3C31"/>
                </a:solidFill>
                <a:effectLst/>
                <a:latin typeface="Courier New Bold"/>
                <a:cs typeface="Courier New" pitchFamily="49" charset="0"/>
              </a:rPr>
              <a:t>I</a:t>
            </a:r>
            <a:r>
              <a:rPr kumimoji="0" lang="en-US" altLang="en-US" sz="2800" b="0" i="0" u="none" strike="noStrike" cap="none" normalizeH="0" baseline="0" dirty="0" smtClean="0">
                <a:ln>
                  <a:noFill/>
                </a:ln>
                <a:solidFill>
                  <a:srgbClr val="4A3C31"/>
                </a:solidFill>
                <a:effectLst/>
                <a:latin typeface="Courier New" pitchFamily="49" charset="0"/>
                <a:cs typeface="Courier New" pitchFamily="49" charset="0"/>
              </a:rPr>
              <a:t>sland")</a:t>
            </a:r>
            <a:br>
              <a:rPr kumimoji="0" lang="en-US" altLang="en-US" sz="2800" b="0" i="0" u="none" strike="noStrike" cap="none" normalizeH="0" baseline="0" dirty="0" smtClean="0">
                <a:ln>
                  <a:noFill/>
                </a:ln>
                <a:solidFill>
                  <a:srgbClr val="4A3C31"/>
                </a:solidFill>
                <a:effectLst/>
                <a:latin typeface="Courier New" pitchFamily="49" charset="0"/>
                <a:cs typeface="Courier New" pitchFamily="49" charset="0"/>
              </a:rPr>
            </a:br>
            <a:r>
              <a:rPr kumimoji="0" lang="en-US" altLang="en-US" sz="2800" b="0" i="0" u="none" strike="noStrike" cap="none" normalizeH="0" baseline="0" dirty="0" smtClean="0">
                <a:ln>
                  <a:noFill/>
                </a:ln>
                <a:solidFill>
                  <a:srgbClr val="4A3C31"/>
                </a:solidFill>
                <a:effectLst/>
                <a:latin typeface="Courier New" pitchFamily="49" charset="0"/>
                <a:cs typeface="Courier New" pitchFamily="49" charset="0"/>
              </a:rPr>
              <a:t>= 91a382b6584261e0e7690da2c43cec9f7ce251b47396b543bddb3ed6ada8c9cc</a:t>
            </a:r>
            <a:r>
              <a:rPr kumimoji="0" lang="en-US" altLang="en-US" sz="2800" b="0" i="0" u="none" strike="noStrike" cap="none" normalizeH="0" baseline="0" dirty="0" smtClean="0">
                <a:ln>
                  <a:noFill/>
                </a:ln>
                <a:solidFill>
                  <a:schemeClr val="tx1"/>
                </a:solidFill>
                <a:effectLst/>
                <a:latin typeface="Arial" pitchFamily="34" charset="0"/>
                <a:cs typeface="Arial" pitchFamily="34" charset="0"/>
              </a:rPr>
              <a:t> </a:t>
            </a:r>
          </a:p>
        </p:txBody>
      </p:sp>
    </p:spTree>
    <p:extLst>
      <p:ext uri="{BB962C8B-B14F-4D97-AF65-F5344CB8AC3E}">
        <p14:creationId xmlns:p14="http://schemas.microsoft.com/office/powerpoint/2010/main" val="222117575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58</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Eliptic Curve :  y=ax+b</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6" name="Picture 2" descr="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1934031"/>
            <a:ext cx="3810000" cy="3705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045514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59</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304298" y="428624"/>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Eliptic Curve: </a:t>
            </a:r>
            <a:r>
              <a:rPr lang="en-US" sz="3200" b="1" dirty="0">
                <a:solidFill>
                  <a:srgbClr val="FCB51C"/>
                </a:solidFill>
              </a:rPr>
              <a:t>y2 = </a:t>
            </a:r>
            <a:r>
              <a:rPr lang="en-US" sz="3200" b="1" dirty="0" smtClean="0">
                <a:solidFill>
                  <a:srgbClr val="FCB51C"/>
                </a:solidFill>
              </a:rPr>
              <a:t>x</a:t>
            </a:r>
            <a:r>
              <a:rPr lang="tr-TR" sz="3200" b="1" dirty="0" smtClean="0">
                <a:solidFill>
                  <a:srgbClr val="FCB51C"/>
                </a:solidFill>
              </a:rPr>
              <a:t>2</a:t>
            </a:r>
            <a:r>
              <a:rPr lang="en-US" sz="3200" b="1" dirty="0">
                <a:solidFill>
                  <a:srgbClr val="FCB51C"/>
                </a:solidFill>
              </a:rPr>
              <a:t> + ax + b</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4" name="Picture 2" descr="https://www.safaribooksonline.com/library/view/bitcoin-for-the/9781457188343/graphics/f07-02.jp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763689" y="1428750"/>
            <a:ext cx="6570686" cy="5040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539674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60</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Kriptografi</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0" name="Picture 2" descr="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0803" y="1428751"/>
            <a:ext cx="7068268" cy="704106"/>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imag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3768" y="2348880"/>
            <a:ext cx="3810000" cy="3867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765824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61</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Kriptografi</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6" name="Picture 2" descr="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2204864"/>
            <a:ext cx="381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094814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62</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Kriptografi</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2" name="Picture 2" descr="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4487" y="1988840"/>
            <a:ext cx="7200900" cy="3457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563714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63</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Kriptografi</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image04.png"/>
          <p:cNvPicPr/>
          <p:nvPr/>
        </p:nvPicPr>
        <p:blipFill>
          <a:blip r:embed="rId4"/>
          <a:srcRect/>
          <a:stretch>
            <a:fillRect/>
          </a:stretch>
        </p:blipFill>
        <p:spPr>
          <a:xfrm>
            <a:off x="1907704" y="2060848"/>
            <a:ext cx="5636096" cy="2736304"/>
          </a:xfrm>
          <a:prstGeom prst="rect">
            <a:avLst/>
          </a:prstGeom>
          <a:ln/>
        </p:spPr>
      </p:pic>
    </p:spTree>
    <p:extLst>
      <p:ext uri="{BB962C8B-B14F-4D97-AF65-F5344CB8AC3E}">
        <p14:creationId xmlns:p14="http://schemas.microsoft.com/office/powerpoint/2010/main" val="205578547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64</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Kriptografi</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698" name="Picture 2" descr="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696" y="1881188"/>
            <a:ext cx="5638800" cy="3609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319037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65</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Kriptografi</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6" name="Picture 2" descr="Imag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671" y="1772816"/>
            <a:ext cx="6629431" cy="3960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977382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66</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Kriptografi</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0" name="Picture 2" descr="Imag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3" y="1916832"/>
            <a:ext cx="6885763" cy="4032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698548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67</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Konsensus</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478882" y="1916832"/>
            <a:ext cx="7472110" cy="2677656"/>
          </a:xfrm>
          <a:prstGeom prst="rect">
            <a:avLst/>
          </a:prstGeom>
        </p:spPr>
        <p:txBody>
          <a:bodyPr wrap="none">
            <a:spAutoFit/>
          </a:bodyPr>
          <a:lstStyle/>
          <a:p>
            <a:r>
              <a:rPr lang="tr-TR" sz="2800" dirty="0" smtClean="0"/>
              <a:t>1- Proof of Work (PoW)</a:t>
            </a:r>
          </a:p>
          <a:p>
            <a:r>
              <a:rPr lang="tr-TR" sz="2800" dirty="0" smtClean="0"/>
              <a:t>2- Proof Stake(PoS)</a:t>
            </a:r>
          </a:p>
          <a:p>
            <a:r>
              <a:rPr lang="tr-TR" sz="2800" dirty="0"/>
              <a:t>3- Proof of Elapsed </a:t>
            </a:r>
            <a:r>
              <a:rPr lang="tr-TR" sz="2800" dirty="0" smtClean="0"/>
              <a:t>Time(PoET)</a:t>
            </a:r>
          </a:p>
          <a:p>
            <a:r>
              <a:rPr lang="tr-TR" sz="2800" dirty="0" smtClean="0"/>
              <a:t>4- </a:t>
            </a:r>
            <a:r>
              <a:rPr lang="en-US" sz="2800" dirty="0"/>
              <a:t>Practical Byzantine Fault Tolerance </a:t>
            </a:r>
            <a:r>
              <a:rPr lang="tr-TR" sz="2800" dirty="0" smtClean="0"/>
              <a:t>(PBFT)</a:t>
            </a:r>
          </a:p>
          <a:p>
            <a:r>
              <a:rPr lang="tr-TR" sz="2800" dirty="0"/>
              <a:t>5- </a:t>
            </a:r>
            <a:r>
              <a:rPr lang="tr-TR" sz="2800" dirty="0" smtClean="0"/>
              <a:t>Ripple</a:t>
            </a:r>
          </a:p>
          <a:p>
            <a:r>
              <a:rPr lang="tr-TR" sz="2800" dirty="0" smtClean="0"/>
              <a:t>6- Others</a:t>
            </a:r>
            <a:endParaRPr lang="en-US" sz="2800" dirty="0"/>
          </a:p>
        </p:txBody>
      </p:sp>
    </p:spTree>
    <p:extLst>
      <p:ext uri="{BB962C8B-B14F-4D97-AF65-F5344CB8AC3E}">
        <p14:creationId xmlns:p14="http://schemas.microsoft.com/office/powerpoint/2010/main" val="105942130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68</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Bitcoin Mining</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547664" y="1571625"/>
            <a:ext cx="6659167" cy="4647426"/>
          </a:xfrm>
          <a:prstGeom prst="rect">
            <a:avLst/>
          </a:prstGeom>
        </p:spPr>
        <p:txBody>
          <a:bodyPr wrap="square">
            <a:spAutoFit/>
          </a:bodyPr>
          <a:lstStyle/>
          <a:p>
            <a:r>
              <a:rPr lang="tr-TR" b="1" cap="all" dirty="0" smtClean="0"/>
              <a:t>Niye bitcoin mining e ihtiyac duyuyor</a:t>
            </a:r>
            <a:endParaRPr lang="en-US" cap="all" dirty="0"/>
          </a:p>
          <a:p>
            <a:endParaRPr lang="tr-TR" dirty="0" smtClean="0"/>
          </a:p>
          <a:p>
            <a:r>
              <a:rPr lang="tr-TR" dirty="0"/>
              <a:t> </a:t>
            </a:r>
            <a:r>
              <a:rPr lang="tr-TR" dirty="0" smtClean="0"/>
              <a:t>   </a:t>
            </a:r>
            <a:endParaRPr lang="tr-TR" dirty="0"/>
          </a:p>
          <a:p>
            <a:pPr marL="285750" indent="-285750">
              <a:buFont typeface="Arial" panose="020B0604020202020204" pitchFamily="34" charset="0"/>
              <a:buChar char="•"/>
            </a:pPr>
            <a:r>
              <a:rPr lang="tr-TR" sz="2800" dirty="0" smtClean="0"/>
              <a:t>Mining yapmalımıyız</a:t>
            </a:r>
            <a:r>
              <a:rPr lang="en-US" sz="2800" dirty="0" smtClean="0"/>
              <a:t>?</a:t>
            </a:r>
            <a:r>
              <a:rPr lang="en-US" sz="2800" dirty="0"/>
              <a:t> </a:t>
            </a:r>
            <a:endParaRPr lang="tr-TR" sz="2800" dirty="0" smtClean="0"/>
          </a:p>
          <a:p>
            <a:pPr marL="285750" indent="-285750">
              <a:buFont typeface="Arial" panose="020B0604020202020204" pitchFamily="34" charset="0"/>
              <a:buChar char="•"/>
            </a:pPr>
            <a:r>
              <a:rPr lang="tr-TR" sz="2800" dirty="0" smtClean="0"/>
              <a:t>Digital para tasarladınız nasıl dağıtacaksınız?</a:t>
            </a:r>
          </a:p>
          <a:p>
            <a:pPr marL="285750" indent="-285750">
              <a:buFont typeface="Arial" panose="020B0604020202020204" pitchFamily="34" charset="0"/>
              <a:buChar char="•"/>
            </a:pPr>
            <a:r>
              <a:rPr lang="tr-TR" sz="2800" dirty="0" smtClean="0"/>
              <a:t>Merkezi bir yapınız yok ve bir otorite yok, para dagıtımını seffaf ve guvenilir nasıl kılarsınız?</a:t>
            </a:r>
          </a:p>
          <a:p>
            <a:pPr marL="285750" indent="-285750">
              <a:buFont typeface="Arial" panose="020B0604020202020204" pitchFamily="34" charset="0"/>
              <a:buChar char="•"/>
            </a:pPr>
            <a:r>
              <a:rPr lang="tr-TR" sz="2800" dirty="0" smtClean="0"/>
              <a:t>Ve sistemi nasıl korursunuz?</a:t>
            </a:r>
          </a:p>
          <a:p>
            <a:pPr marL="285750" indent="-285750">
              <a:buFont typeface="Arial" panose="020B0604020202020204" pitchFamily="34" charset="0"/>
              <a:buChar char="•"/>
            </a:pPr>
            <a:r>
              <a:rPr lang="tr-TR" sz="2800" dirty="0"/>
              <a:t>MINING ısmı nerden </a:t>
            </a:r>
            <a:r>
              <a:rPr lang="tr-TR" sz="2800" dirty="0" smtClean="0"/>
              <a:t>geliyor?</a:t>
            </a:r>
            <a:endParaRPr lang="tr-TR" dirty="0" smtClean="0"/>
          </a:p>
          <a:p>
            <a:endParaRPr lang="en-US" dirty="0"/>
          </a:p>
        </p:txBody>
      </p:sp>
    </p:spTree>
    <p:extLst>
      <p:ext uri="{BB962C8B-B14F-4D97-AF65-F5344CB8AC3E}">
        <p14:creationId xmlns:p14="http://schemas.microsoft.com/office/powerpoint/2010/main" val="156677327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69</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Bitcoin Mining</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8" name="Picture 2" descr="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1844824"/>
            <a:ext cx="6877050" cy="4176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562847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70</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Bitcoin Mining</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5" name="Picture 1"/>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428749" y="1596694"/>
            <a:ext cx="7572375" cy="414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7611213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71</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Bitcoin Mining</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1"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656" y="1938338"/>
            <a:ext cx="7387307" cy="3362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1099320"/>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fld id="{A22F7759-5FAC-364E-BB5B-DF5023DE216F}" type="slidenum">
              <a:rPr lang="en-GB">
                <a:solidFill>
                  <a:srgbClr val="898989"/>
                </a:solidFill>
                <a:latin typeface="Calibri" charset="0"/>
              </a:rPr>
              <a:pPr eaLnBrk="1" hangingPunct="1"/>
              <a:t>72</a:t>
            </a:fld>
            <a:endParaRPr lang="en-GB">
              <a:solidFill>
                <a:srgbClr val="898989"/>
              </a:solidFill>
              <a:latin typeface="Calibri" charset="0"/>
            </a:endParaRPr>
          </a:p>
        </p:txBody>
      </p:sp>
      <p:sp>
        <p:nvSpPr>
          <p:cNvPr id="13" name="Footer Placeholder 12"/>
          <p:cNvSpPr>
            <a:spLocks noGrp="1"/>
          </p:cNvSpPr>
          <p:nvPr>
            <p:ph type="ftr" sz="quarter" idx="11"/>
          </p:nvPr>
        </p:nvSpPr>
        <p:spPr/>
        <p:txBody>
          <a:bodyPr wrap="square" numCol="1" anchorCtr="0" compatLnSpc="1">
            <a:prstTxWarp prst="textNoShape">
              <a:avLst/>
            </a:prstTxWarp>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fontAlgn="base" hangingPunct="1">
              <a:spcBef>
                <a:spcPct val="0"/>
              </a:spcBef>
              <a:spcAft>
                <a:spcPct val="0"/>
              </a:spcAft>
            </a:pPr>
            <a:r>
              <a:rPr lang="tr-TR" dirty="0">
                <a:solidFill>
                  <a:srgbClr val="898989"/>
                </a:solidFill>
                <a:latin typeface="Calibri" charset="0"/>
              </a:rPr>
              <a:t>Bitcoin (Digital Para) Temel Eğitimi</a:t>
            </a:r>
            <a:endParaRPr lang="en-GB" dirty="0">
              <a:solidFill>
                <a:srgbClr val="898989"/>
              </a:solidFill>
              <a:latin typeface="Calibri" charset="0"/>
            </a:endParaRPr>
          </a:p>
        </p:txBody>
      </p:sp>
      <p:sp>
        <p:nvSpPr>
          <p:cNvPr id="15" name="Rectangle 14"/>
          <p:cNvSpPr/>
          <p:nvPr/>
        </p:nvSpPr>
        <p:spPr>
          <a:xfrm>
            <a:off x="1285875" y="428625"/>
            <a:ext cx="7858125" cy="10001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fontAlgn="auto">
              <a:spcBef>
                <a:spcPts val="0"/>
              </a:spcBef>
              <a:spcAft>
                <a:spcPts val="0"/>
              </a:spcAft>
              <a:defRPr/>
            </a:pPr>
            <a:r>
              <a:rPr lang="tr-TR" sz="3200" b="1" dirty="0" smtClean="0">
                <a:solidFill>
                  <a:srgbClr val="FCB51C"/>
                </a:solidFill>
              </a:rPr>
              <a:t>Bitcoin Mining</a:t>
            </a:r>
            <a:endParaRPr lang="en-GB" sz="3200" b="1" dirty="0">
              <a:solidFill>
                <a:srgbClr val="FCB51C"/>
              </a:solidFill>
            </a:endParaRPr>
          </a:p>
        </p:txBody>
      </p:sp>
      <p:sp>
        <p:nvSpPr>
          <p:cNvPr id="5" name="Rectangle 4"/>
          <p:cNvSpPr/>
          <p:nvPr/>
        </p:nvSpPr>
        <p:spPr>
          <a:xfrm>
            <a:off x="0" y="0"/>
            <a:ext cx="1285875" cy="6858000"/>
          </a:xfrm>
          <a:prstGeom prst="rect">
            <a:avLst/>
          </a:prstGeom>
          <a:solidFill>
            <a:srgbClr val="8BC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dirty="0"/>
          </a:p>
        </p:txBody>
      </p:sp>
      <p:sp>
        <p:nvSpPr>
          <p:cNvPr id="7" name="Rectangle 6"/>
          <p:cNvSpPr/>
          <p:nvPr/>
        </p:nvSpPr>
        <p:spPr>
          <a:xfrm>
            <a:off x="0" y="0"/>
            <a:ext cx="9144000" cy="4286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GB" sz="1600" dirty="0"/>
          </a:p>
        </p:txBody>
      </p:sp>
      <p:pic>
        <p:nvPicPr>
          <p:cNvPr id="4105" name="Picture 11" descr="Türkiye Bankalar Birliğ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5888" y="571500"/>
            <a:ext cx="10271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907704" y="2276872"/>
            <a:ext cx="6336704" cy="1200329"/>
          </a:xfrm>
          <a:prstGeom prst="rect">
            <a:avLst/>
          </a:prstGeom>
        </p:spPr>
        <p:txBody>
          <a:bodyPr wrap="square">
            <a:spAutoFit/>
          </a:bodyPr>
          <a:lstStyle/>
          <a:p>
            <a:r>
              <a:rPr lang="en-US" dirty="0">
                <a:hlinkClick r:id="rId4"/>
              </a:rPr>
              <a:t>http://</a:t>
            </a:r>
            <a:r>
              <a:rPr lang="en-US" dirty="0" smtClean="0">
                <a:hlinkClick r:id="rId4"/>
              </a:rPr>
              <a:t>www.everledger.io</a:t>
            </a:r>
            <a:endParaRPr lang="tr-TR" dirty="0" smtClean="0"/>
          </a:p>
          <a:p>
            <a:endParaRPr lang="tr-TR" dirty="0" smtClean="0"/>
          </a:p>
          <a:p>
            <a:endParaRPr lang="tr-TR" dirty="0"/>
          </a:p>
          <a:p>
            <a:r>
              <a:rPr lang="en-US" dirty="0" smtClean="0"/>
              <a:t>https</a:t>
            </a:r>
            <a:r>
              <a:rPr lang="en-US" dirty="0"/>
              <a:t>://www.youtube.com/watch?v=K8kua5B5K3I</a:t>
            </a:r>
          </a:p>
        </p:txBody>
      </p:sp>
    </p:spTree>
    <p:extLst>
      <p:ext uri="{BB962C8B-B14F-4D97-AF65-F5344CB8AC3E}">
        <p14:creationId xmlns:p14="http://schemas.microsoft.com/office/powerpoint/2010/main" val="172600884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B48F1081E149A48B26DDAD7AD6FFE08" ma:contentTypeVersion="0" ma:contentTypeDescription="Create a new document." ma:contentTypeScope="" ma:versionID="bfc8cbb908f3fb7892d6e837834d8188">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C8EAB0E6-428B-44A7-BDC2-9BE64EBBBE4B}">
  <ds:schemaRefs>
    <ds:schemaRef ds:uri="http://schemas.microsoft.com/sharepoint/v3/contenttype/forms"/>
  </ds:schemaRefs>
</ds:datastoreItem>
</file>

<file path=customXml/itemProps2.xml><?xml version="1.0" encoding="utf-8"?>
<ds:datastoreItem xmlns:ds="http://schemas.openxmlformats.org/officeDocument/2006/customXml" ds:itemID="{1905A7AA-B33D-440A-ABCD-82ABD039E7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Advantage.thmx</Template>
  <TotalTime>32320</TotalTime>
  <Words>3530</Words>
  <Application>Microsoft Office PowerPoint</Application>
  <PresentationFormat>On-screen Show (4:3)</PresentationFormat>
  <Paragraphs>793</Paragraphs>
  <Slides>72</Slides>
  <Notes>72</Notes>
  <HiddenSlides>0</HiddenSlides>
  <MMClips>0</MMClips>
  <ScaleCrop>false</ScaleCrop>
  <HeadingPairs>
    <vt:vector size="4" baseType="variant">
      <vt:variant>
        <vt:lpstr>Theme</vt:lpstr>
      </vt:variant>
      <vt:variant>
        <vt:i4>1</vt:i4>
      </vt:variant>
      <vt:variant>
        <vt:lpstr>Slide Titles</vt:lpstr>
      </vt:variant>
      <vt:variant>
        <vt:i4>72</vt:i4>
      </vt:variant>
    </vt:vector>
  </HeadingPairs>
  <TitlesOfParts>
    <vt:vector size="7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phiLogica</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TBB Is Zekasi</dc:title>
  <dc:creator>Levent Cebeci</dc:creator>
  <cp:lastModifiedBy>Ender</cp:lastModifiedBy>
  <cp:revision>705</cp:revision>
  <dcterms:created xsi:type="dcterms:W3CDTF">2007-08-14T08:11:05Z</dcterms:created>
  <dcterms:modified xsi:type="dcterms:W3CDTF">2017-09-04T17:44:08Z</dcterms:modified>
</cp:coreProperties>
</file>